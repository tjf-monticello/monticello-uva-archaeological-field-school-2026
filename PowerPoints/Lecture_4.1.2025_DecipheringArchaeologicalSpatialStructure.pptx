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49" r:id="rId5"/>
    <p:sldId id="257" r:id="rId6"/>
    <p:sldId id="328" r:id="rId7"/>
    <p:sldId id="258" r:id="rId8"/>
    <p:sldId id="259" r:id="rId9"/>
    <p:sldId id="269" r:id="rId10"/>
    <p:sldId id="265" r:id="rId11"/>
    <p:sldId id="300" r:id="rId12"/>
    <p:sldId id="268" r:id="rId13"/>
    <p:sldId id="271" r:id="rId14"/>
    <p:sldId id="263" r:id="rId15"/>
    <p:sldId id="264" r:id="rId16"/>
    <p:sldId id="267" r:id="rId17"/>
    <p:sldId id="270" r:id="rId18"/>
    <p:sldId id="273" r:id="rId19"/>
    <p:sldId id="274" r:id="rId20"/>
    <p:sldId id="282" r:id="rId21"/>
    <p:sldId id="283" r:id="rId22"/>
    <p:sldId id="327" r:id="rId23"/>
    <p:sldId id="261" r:id="rId24"/>
    <p:sldId id="450" r:id="rId25"/>
    <p:sldId id="287" r:id="rId26"/>
    <p:sldId id="292" r:id="rId27"/>
    <p:sldId id="451" r:id="rId28"/>
    <p:sldId id="452" r:id="rId29"/>
    <p:sldId id="260" r:id="rId30"/>
    <p:sldId id="454" r:id="rId31"/>
    <p:sldId id="288" r:id="rId32"/>
    <p:sldId id="289" r:id="rId33"/>
    <p:sldId id="290" r:id="rId34"/>
    <p:sldId id="45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5" autoAdjust="0"/>
    <p:restoredTop sz="94660"/>
  </p:normalViewPr>
  <p:slideViewPr>
    <p:cSldViewPr>
      <p:cViewPr varScale="1">
        <p:scale>
          <a:sx n="78" d="100"/>
          <a:sy n="78" d="100"/>
        </p:scale>
        <p:origin x="878" y="6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0904FD-D6FD-4142-91F6-C5A8D6011D92}"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0904FD-D6FD-4142-91F6-C5A8D6011D92}"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0904FD-D6FD-4142-91F6-C5A8D6011D92}"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0904FD-D6FD-4142-91F6-C5A8D6011D92}"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0904FD-D6FD-4142-91F6-C5A8D6011D92}" type="datetimeFigureOut">
              <a:rPr lang="en-US" smtClean="0"/>
              <a:pPr/>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904FD-D6FD-4142-91F6-C5A8D6011D92}"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0904FD-D6FD-4142-91F6-C5A8D6011D92}"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0904FD-D6FD-4142-91F6-C5A8D6011D92}"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0904FD-D6FD-4142-91F6-C5A8D6011D92}"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0904FD-D6FD-4142-91F6-C5A8D6011D92}"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0904FD-D6FD-4142-91F6-C5A8D6011D92}"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049BC2-655D-44CF-A011-B15A81BE7B9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0904FD-D6FD-4142-91F6-C5A8D6011D92}" type="datetimeFigureOut">
              <a:rPr lang="en-US" smtClean="0"/>
              <a:pPr/>
              <a:t>6/24/2026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049BC2-655D-44CF-A011-B15A81BE7B9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igitalcommons.unl.edu/anthropologyfacpub/70/"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4D6296-3252-4C3D-B05E-C1E39293FDE7}"/>
              </a:ext>
            </a:extLst>
          </p:cNvPr>
          <p:cNvSpPr txBox="1"/>
          <p:nvPr/>
        </p:nvSpPr>
        <p:spPr>
          <a:xfrm>
            <a:off x="1752601" y="1660154"/>
            <a:ext cx="8003041" cy="1846659"/>
          </a:xfrm>
          <a:prstGeom prst="rect">
            <a:avLst/>
          </a:prstGeom>
          <a:noFill/>
        </p:spPr>
        <p:txBody>
          <a:bodyPr wrap="square">
            <a:spAutoFit/>
          </a:bodyPr>
          <a:lstStyle/>
          <a:p>
            <a:pPr algn="ctr"/>
            <a:r>
              <a:rPr lang="en-US" sz="2400" b="1" dirty="0">
                <a:solidFill>
                  <a:schemeClr val="bg1">
                    <a:lumMod val="50000"/>
                  </a:schemeClr>
                </a:solidFill>
                <a:latin typeface="Cambria" panose="02040503050406030204" pitchFamily="18" charset="0"/>
                <a:ea typeface="Cambria" panose="02040503050406030204" pitchFamily="18" charset="0"/>
                <a:cs typeface="Times New Roman" panose="02020603050405020304" pitchFamily="18" charset="0"/>
              </a:rPr>
              <a:t>Deciphering Archaeological Spatial Structure </a:t>
            </a:r>
          </a:p>
          <a:p>
            <a:pPr algn="ctr"/>
            <a:r>
              <a:rPr lang="en-US" sz="2400" b="1" dirty="0">
                <a:solidFill>
                  <a:schemeClr val="bg1">
                    <a:lumMod val="50000"/>
                  </a:schemeClr>
                </a:solidFill>
                <a:latin typeface="Cambria" panose="02040503050406030204" pitchFamily="18" charset="0"/>
                <a:ea typeface="Cambria" panose="02040503050406030204" pitchFamily="18" charset="0"/>
                <a:cs typeface="Times New Roman" panose="02020603050405020304" pitchFamily="18" charset="0"/>
              </a:rPr>
              <a:t>on Domestic Sites </a:t>
            </a:r>
          </a:p>
          <a:p>
            <a:pPr algn="ctr"/>
            <a:endParaRPr lang="en-US" sz="2400" b="1" dirty="0">
              <a:solidFill>
                <a:schemeClr val="bg1">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pPr algn="ctr"/>
            <a:endParaRPr lang="en-US" sz="2400" b="1" dirty="0">
              <a:solidFill>
                <a:schemeClr val="bg1">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pPr algn="ctr"/>
            <a:r>
              <a:rPr lang="en-US" b="1" dirty="0">
                <a:latin typeface="Cambria" panose="02040503050406030204" pitchFamily="18" charset="0"/>
                <a:ea typeface="Cambria" panose="02040503050406030204" pitchFamily="18" charset="0"/>
                <a:cs typeface="Times New Roman" panose="02020603050405020304" pitchFamily="18" charset="0"/>
              </a:rPr>
              <a:t>Fraser D. Neiman</a:t>
            </a:r>
          </a:p>
        </p:txBody>
      </p:sp>
      <p:pic>
        <p:nvPicPr>
          <p:cNvPr id="4" name="Picture 3" descr="P:\MonticelloLogo\Monticello_Logo_Feb_25_2010-LS.png">
            <a:extLst>
              <a:ext uri="{FF2B5EF4-FFF2-40B4-BE49-F238E27FC236}">
                <a16:creationId xmlns:a16="http://schemas.microsoft.com/office/drawing/2014/main" id="{F55B7BAE-8DDF-4582-8DC2-975EFB0806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09600" y="4975888"/>
            <a:ext cx="3459073" cy="96827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rimary University of Virginia Logo.On the Logos landing page, clicking on this image takes you to the University logos page. On the University logos page, clicking on this image takes you to the download page to download the primary UVA logo.">
            <a:extLst>
              <a:ext uri="{FF2B5EF4-FFF2-40B4-BE49-F238E27FC236}">
                <a16:creationId xmlns:a16="http://schemas.microsoft.com/office/drawing/2014/main" id="{FECF3BDD-31F8-06EA-5F50-8AC04DA813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10800" y="4152900"/>
            <a:ext cx="1600200" cy="16002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C887A2-2EB0-ACBE-D6D1-AAF7EC6EDBED}"/>
              </a:ext>
            </a:extLst>
          </p:cNvPr>
          <p:cNvSpPr txBox="1"/>
          <p:nvPr/>
        </p:nvSpPr>
        <p:spPr>
          <a:xfrm>
            <a:off x="1656819" y="6248400"/>
            <a:ext cx="8720144" cy="369332"/>
          </a:xfrm>
          <a:prstGeom prst="rect">
            <a:avLst/>
          </a:prstGeom>
          <a:noFill/>
        </p:spPr>
        <p:txBody>
          <a:bodyPr wrap="none" rtlCol="0">
            <a:spAutoFit/>
          </a:bodyPr>
          <a:lstStyle/>
          <a:p>
            <a:r>
              <a:rPr lang="en-US" dirty="0">
                <a:solidFill>
                  <a:schemeClr val="tx1">
                    <a:lumMod val="50000"/>
                    <a:lumOff val="50000"/>
                  </a:schemeClr>
                </a:solidFill>
                <a:latin typeface="Calibri" panose="020F0502020204030204" pitchFamily="34" charset="0"/>
                <a:ea typeface="Cambria" panose="02040503050406030204" pitchFamily="18" charset="0"/>
                <a:cs typeface="Calibri" panose="020F0502020204030204" pitchFamily="34" charset="0"/>
              </a:rPr>
              <a:t>Monticello-UVA Archaeological Field School | Anthropology 5589 | Summer 2026 | Week 4</a:t>
            </a:r>
          </a:p>
        </p:txBody>
      </p:sp>
    </p:spTree>
    <p:extLst>
      <p:ext uri="{BB962C8B-B14F-4D97-AF65-F5344CB8AC3E}">
        <p14:creationId xmlns:p14="http://schemas.microsoft.com/office/powerpoint/2010/main" val="3799515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533400" y="289679"/>
            <a:ext cx="10439400" cy="6278642"/>
          </a:xfrm>
          <a:prstGeom prst="rect">
            <a:avLst/>
          </a:prstGeom>
          <a:noFill/>
          <a:ln w="9525">
            <a:noFill/>
            <a:miter lim="800000"/>
            <a:headEnd/>
            <a:tailEnd/>
          </a:ln>
          <a:effectLst/>
        </p:spPr>
        <p:txBody>
          <a:bodyPr wrap="square">
            <a:spAutoFit/>
          </a:bodyPr>
          <a:lstStyle/>
          <a:p>
            <a:r>
              <a:rPr lang="en-US" sz="2400" b="1" dirty="0">
                <a:solidFill>
                  <a:schemeClr val="bg1">
                    <a:lumMod val="50000"/>
                  </a:schemeClr>
                </a:solidFill>
              </a:rPr>
              <a:t>Archaeological Spatial Structure </a:t>
            </a:r>
            <a:r>
              <a:rPr lang="en-US" b="1" dirty="0">
                <a:solidFill>
                  <a:schemeClr val="accent2"/>
                </a:solidFill>
              </a:rPr>
              <a:t>	</a:t>
            </a:r>
          </a:p>
          <a:p>
            <a:endParaRPr lang="en-US" dirty="0"/>
          </a:p>
          <a:p>
            <a:r>
              <a:rPr lang="en-US" b="1" dirty="0"/>
              <a:t>Two Components of </a:t>
            </a:r>
            <a:r>
              <a:rPr lang="en-US" b="1" i="1" dirty="0"/>
              <a:t>Archaeological Spatial Structure* </a:t>
            </a:r>
          </a:p>
          <a:p>
            <a:endParaRPr lang="en-US" dirty="0"/>
          </a:p>
          <a:p>
            <a:pPr marL="285750" indent="-285750">
              <a:buFont typeface="Arial" panose="020B0604020202020204" pitchFamily="34" charset="0"/>
              <a:buChar char="•"/>
            </a:pPr>
            <a:r>
              <a:rPr lang="en-US" b="1" i="1" dirty="0"/>
              <a:t>Site Structure</a:t>
            </a:r>
            <a:r>
              <a:rPr lang="en-US" dirty="0"/>
              <a:t>: the spatial distribution of subsurface features across sites (</a:t>
            </a:r>
            <a:r>
              <a:rPr lang="en-US" i="1" dirty="0"/>
              <a:t>e.g</a:t>
            </a:r>
            <a:r>
              <a:rPr lang="en-US" dirty="0"/>
              <a:t>. remains of structures, fences, pits, </a:t>
            </a:r>
            <a:r>
              <a:rPr lang="en-US" dirty="0" err="1"/>
              <a:t>etc</a:t>
            </a:r>
            <a:r>
              <a:rPr lang="en-US" dirty="0"/>
              <a:t>).</a:t>
            </a:r>
          </a:p>
          <a:p>
            <a:pPr marL="342900" indent="-342900">
              <a:buAutoNum type="arabicPeriod"/>
            </a:pPr>
            <a:endParaRPr lang="en-US" dirty="0"/>
          </a:p>
          <a:p>
            <a:pPr marL="285750" indent="-285750">
              <a:buFont typeface="Arial" panose="020B0604020202020204" pitchFamily="34" charset="0"/>
              <a:buChar char="•"/>
            </a:pPr>
            <a:r>
              <a:rPr lang="en-US" b="1" i="1" dirty="0"/>
              <a:t>Intra-Site Artifact Distributions</a:t>
            </a:r>
            <a:r>
              <a:rPr lang="en-US" dirty="0"/>
              <a:t>: the spatial distribution of artifacts an across sites ~ artifact density surfaces.</a:t>
            </a:r>
          </a:p>
          <a:p>
            <a:endParaRPr lang="en-US" dirty="0"/>
          </a:p>
          <a:p>
            <a:pPr marL="285750" indent="-285750" fontAlgn="base">
              <a:buFont typeface="Arial" panose="020B0604020202020204" pitchFamily="34" charset="0"/>
              <a:buChar char="•"/>
            </a:pPr>
            <a:r>
              <a:rPr lang="en-US" dirty="0" err="1"/>
              <a:t>Wandsnider</a:t>
            </a:r>
            <a:r>
              <a:rPr lang="en-US" dirty="0"/>
              <a:t>, LuAnn, 1996,  Describing and Comparing Archaeological Spatial Structure. </a:t>
            </a:r>
            <a:r>
              <a:rPr lang="en-US" i="1" dirty="0"/>
              <a:t>Journal of Archaeological Method and Theory</a:t>
            </a:r>
            <a:r>
              <a:rPr lang="en-US" dirty="0"/>
              <a:t> 3(4): 319-384. </a:t>
            </a:r>
            <a:r>
              <a:rPr lang="en-US" dirty="0">
                <a:hlinkClick r:id="rId2"/>
              </a:rPr>
              <a:t>https://digitalcommons.unl.edu/anthropologyfacpub/70/</a:t>
            </a:r>
            <a:endParaRPr lang="en-US" dirty="0"/>
          </a:p>
          <a:p>
            <a:endParaRPr lang="en-US" dirty="0"/>
          </a:p>
          <a:p>
            <a:r>
              <a:rPr lang="en-US" b="1" dirty="0"/>
              <a:t>A Little History</a:t>
            </a:r>
          </a:p>
          <a:p>
            <a:pPr marL="285750" indent="-285750">
              <a:buFont typeface="Arial" panose="020B0604020202020204" pitchFamily="34" charset="0"/>
              <a:buChar char="•"/>
            </a:pPr>
            <a:r>
              <a:rPr lang="en-US" dirty="0"/>
              <a:t>Serious interest in spatial structure is relatively recent.	</a:t>
            </a:r>
          </a:p>
          <a:p>
            <a:r>
              <a:rPr lang="en-US" dirty="0"/>
              <a:t> </a:t>
            </a:r>
          </a:p>
          <a:p>
            <a:pPr marL="285750" indent="-285750">
              <a:buFont typeface="Arial" panose="020B0604020202020204" pitchFamily="34" charset="0"/>
              <a:buChar char="•"/>
            </a:pPr>
            <a:r>
              <a:rPr lang="en-US" i="1" dirty="0"/>
              <a:t>Culture History (c. 1920s to 1960s). </a:t>
            </a:r>
            <a:r>
              <a:rPr lang="en-US" dirty="0"/>
              <a:t>  Primary focus: The distribution of “cultures” in time and space. Sites are "homogeneous artifact mines."	</a:t>
            </a:r>
          </a:p>
          <a:p>
            <a:endParaRPr lang="en-US" dirty="0"/>
          </a:p>
          <a:p>
            <a:pPr marL="285750" indent="-285750">
              <a:buFont typeface="Arial" panose="020B0604020202020204" pitchFamily="34" charset="0"/>
              <a:buChar char="•"/>
            </a:pPr>
            <a:r>
              <a:rPr lang="en-US" i="1" dirty="0"/>
              <a:t>New or Processual Archaeologists (post 1960’s).  </a:t>
            </a:r>
            <a:r>
              <a:rPr lang="en-US" dirty="0"/>
              <a:t>How cultures function is important too, </a:t>
            </a:r>
            <a:r>
              <a:rPr lang="en-US" i="1" dirty="0"/>
              <a:t>e.g. </a:t>
            </a:r>
            <a:r>
              <a:rPr lang="en-US" dirty="0"/>
              <a:t>social and social organization.  Archaeological spatial structure offers essential clues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342900" y="1672595"/>
            <a:ext cx="11506200" cy="5109091"/>
          </a:xfrm>
          <a:prstGeom prst="rect">
            <a:avLst/>
          </a:prstGeom>
          <a:noFill/>
          <a:ln w="9525">
            <a:noFill/>
            <a:miter lim="800000"/>
            <a:headEnd/>
            <a:tailEnd/>
          </a:ln>
          <a:effectLst/>
        </p:spPr>
        <p:txBody>
          <a:bodyPr wrap="square">
            <a:spAutoFit/>
          </a:bodyPr>
          <a:lstStyle/>
          <a:p>
            <a:r>
              <a:rPr lang="en-US" b="1" i="1" dirty="0"/>
              <a:t>Systemic context </a:t>
            </a:r>
            <a:r>
              <a:rPr lang="en-US" b="1" dirty="0"/>
              <a:t>processes*</a:t>
            </a:r>
          </a:p>
          <a:p>
            <a:pPr marL="342900" indent="-342900">
              <a:buFontTx/>
              <a:buAutoNum type="arabicPeriod"/>
            </a:pPr>
            <a:endParaRPr lang="en-US" b="1" dirty="0">
              <a:solidFill>
                <a:schemeClr val="accent2"/>
              </a:solidFill>
            </a:endParaRPr>
          </a:p>
          <a:p>
            <a:pPr marL="342900" indent="-342900">
              <a:buFont typeface="Arial" panose="020B0604020202020204" pitchFamily="34" charset="0"/>
              <a:buChar char="•"/>
            </a:pPr>
            <a:r>
              <a:rPr lang="en-US" i="1" dirty="0"/>
              <a:t>Site structure:</a:t>
            </a:r>
            <a:r>
              <a:rPr lang="en-US" dirty="0"/>
              <a:t>  what factors affect the spatial organization of activities and the facilities or non-portable artifacts (whose archaeological traces are “features”)  with which activities are associated? </a:t>
            </a:r>
          </a:p>
          <a:p>
            <a:pPr marL="342900" indent="-342900"/>
            <a:r>
              <a:rPr lang="en-US" dirty="0"/>
              <a:t>	</a:t>
            </a:r>
          </a:p>
          <a:p>
            <a:pPr marL="342900" indent="-342900">
              <a:buFont typeface="Arial" panose="020B0604020202020204" pitchFamily="34" charset="0"/>
              <a:buChar char="•"/>
            </a:pPr>
            <a:r>
              <a:rPr lang="en-US" i="1" dirty="0"/>
              <a:t>Artifact Distributions</a:t>
            </a:r>
            <a:r>
              <a:rPr lang="en-US" dirty="0"/>
              <a:t>: what factors affect where artifacts are used and discarded?</a:t>
            </a:r>
          </a:p>
          <a:p>
            <a:pPr marL="342900" indent="-342900"/>
            <a:endParaRPr lang="en-US" sz="2000" dirty="0"/>
          </a:p>
          <a:p>
            <a:pPr marL="342900" indent="-342900"/>
            <a:r>
              <a:rPr lang="en-US" b="1" dirty="0"/>
              <a:t> </a:t>
            </a:r>
            <a:r>
              <a:rPr lang="en-US" b="1" i="1" dirty="0"/>
              <a:t>Archaeological context </a:t>
            </a:r>
            <a:r>
              <a:rPr lang="en-US" b="1" dirty="0"/>
              <a:t>processes</a:t>
            </a:r>
          </a:p>
          <a:p>
            <a:endParaRPr lang="en-US" b="1" dirty="0">
              <a:solidFill>
                <a:schemeClr val="accent2"/>
              </a:solidFill>
            </a:endParaRPr>
          </a:p>
          <a:p>
            <a:pPr marL="342900" indent="-342900">
              <a:buFont typeface="Arial" panose="020B0604020202020204" pitchFamily="34" charset="0"/>
              <a:buChar char="•"/>
            </a:pPr>
            <a:r>
              <a:rPr lang="en-US" dirty="0"/>
              <a:t>Site Structure: What factors affect the ways in which facilities are represented as the features we see in the record?  (e.g. preservation)</a:t>
            </a:r>
          </a:p>
          <a:p>
            <a:endParaRPr lang="en-US" dirty="0"/>
          </a:p>
          <a:p>
            <a:pPr marL="342900" indent="-342900">
              <a:buFont typeface="Arial" panose="020B0604020202020204" pitchFamily="34" charset="0"/>
              <a:buChar char="•"/>
            </a:pPr>
            <a:r>
              <a:rPr lang="en-US" dirty="0"/>
              <a:t>Artifact Distributions: What factors affect spatial patterns after artifact deposition and site abandonment?   (e.g. plowing, erosion, )</a:t>
            </a:r>
          </a:p>
          <a:p>
            <a:pPr marL="342900" indent="-342900"/>
            <a:endParaRPr lang="en-US" b="1" dirty="0">
              <a:solidFill>
                <a:schemeClr val="accent2"/>
              </a:solidFill>
            </a:endParaRPr>
          </a:p>
          <a:p>
            <a:pPr marL="342900" indent="-342900"/>
            <a:r>
              <a:rPr lang="en-US" dirty="0"/>
              <a:t>* Schiffer, M.B., 1972: Archaeological context and systemic context, </a:t>
            </a:r>
            <a:r>
              <a:rPr lang="en-US" i="1" dirty="0"/>
              <a:t>American Antiquity </a:t>
            </a:r>
            <a:r>
              <a:rPr lang="en-US" dirty="0"/>
              <a:t>37, 156–65. See also… Furlan G. 2024: Revising the concepts of systemic context and archaeological context: a proposal. </a:t>
            </a:r>
            <a:r>
              <a:rPr lang="en-US" i="1" dirty="0"/>
              <a:t>Archaeological Dialogues</a:t>
            </a:r>
            <a:r>
              <a:rPr lang="en-US" dirty="0"/>
              <a:t>. 31(2):208-219.</a:t>
            </a:r>
          </a:p>
        </p:txBody>
      </p:sp>
      <p:sp>
        <p:nvSpPr>
          <p:cNvPr id="5" name="TextBox 4">
            <a:extLst>
              <a:ext uri="{FF2B5EF4-FFF2-40B4-BE49-F238E27FC236}">
                <a16:creationId xmlns:a16="http://schemas.microsoft.com/office/drawing/2014/main" id="{FDD9947E-EC2E-ABE0-DD1F-5B77C224E7A5}"/>
              </a:ext>
            </a:extLst>
          </p:cNvPr>
          <p:cNvSpPr txBox="1"/>
          <p:nvPr/>
        </p:nvSpPr>
        <p:spPr>
          <a:xfrm>
            <a:off x="304800" y="76314"/>
            <a:ext cx="4572000" cy="830997"/>
          </a:xfrm>
          <a:prstGeom prst="rect">
            <a:avLst/>
          </a:prstGeom>
          <a:noFill/>
        </p:spPr>
        <p:txBody>
          <a:bodyPr wrap="square">
            <a:spAutoFit/>
          </a:bodyPr>
          <a:lstStyle/>
          <a:p>
            <a:r>
              <a:rPr lang="en-US" sz="2400" b="1" dirty="0">
                <a:solidFill>
                  <a:schemeClr val="bg1">
                    <a:lumMod val="50000"/>
                  </a:schemeClr>
                </a:solidFill>
              </a:rPr>
              <a:t>Archaeological Spatial Structure </a:t>
            </a:r>
            <a:r>
              <a:rPr lang="en-US" sz="2400" b="1" dirty="0">
                <a:solidFill>
                  <a:schemeClr val="accent2"/>
                </a:solidFill>
              </a:rPr>
              <a:t>	</a:t>
            </a:r>
          </a:p>
        </p:txBody>
      </p:sp>
      <p:sp>
        <p:nvSpPr>
          <p:cNvPr id="6" name="TextBox 5">
            <a:extLst>
              <a:ext uri="{FF2B5EF4-FFF2-40B4-BE49-F238E27FC236}">
                <a16:creationId xmlns:a16="http://schemas.microsoft.com/office/drawing/2014/main" id="{E8B4975A-E64D-72B1-3659-3AFFCA1F59F2}"/>
              </a:ext>
            </a:extLst>
          </p:cNvPr>
          <p:cNvSpPr txBox="1"/>
          <p:nvPr/>
        </p:nvSpPr>
        <p:spPr>
          <a:xfrm>
            <a:off x="533400" y="567899"/>
            <a:ext cx="9296399" cy="1200329"/>
          </a:xfrm>
          <a:prstGeom prst="rect">
            <a:avLst/>
          </a:prstGeom>
          <a:noFill/>
        </p:spPr>
        <p:txBody>
          <a:bodyPr wrap="square" rtlCol="0">
            <a:spAutoFit/>
          </a:bodyPr>
          <a:lstStyle/>
          <a:p>
            <a:r>
              <a:rPr lang="en-US" dirty="0"/>
              <a:t>If we want the evidence from archaeological spatial structure to be useful, we have to make  inferences about the causal dynamics responsible for the spatial patterns .</a:t>
            </a:r>
          </a:p>
          <a:p>
            <a:endParaRPr lang="en-US" dirty="0"/>
          </a:p>
          <a:p>
            <a:r>
              <a:rPr lang="en-US" dirty="0"/>
              <a:t>We need to think about two sets of processes.  </a:t>
            </a:r>
          </a:p>
        </p:txBody>
      </p:sp>
    </p:spTree>
    <p:extLst>
      <p:ext uri="{BB962C8B-B14F-4D97-AF65-F5344CB8AC3E}">
        <p14:creationId xmlns:p14="http://schemas.microsoft.com/office/powerpoint/2010/main" val="1876297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762000" y="304800"/>
            <a:ext cx="9067800" cy="1015663"/>
          </a:xfrm>
          <a:prstGeom prst="rect">
            <a:avLst/>
          </a:prstGeom>
          <a:noFill/>
          <a:ln w="9525">
            <a:noFill/>
            <a:miter lim="800000"/>
            <a:headEnd/>
            <a:tailEnd/>
          </a:ln>
          <a:effectLst/>
        </p:spPr>
        <p:txBody>
          <a:bodyPr wrap="square">
            <a:spAutoFit/>
          </a:bodyPr>
          <a:lstStyle/>
          <a:p>
            <a:r>
              <a:rPr lang="en-US" sz="2400" b="1" dirty="0">
                <a:solidFill>
                  <a:schemeClr val="bg1">
                    <a:lumMod val="50000"/>
                  </a:schemeClr>
                </a:solidFill>
              </a:rPr>
              <a:t>Systemic Context Processes</a:t>
            </a:r>
          </a:p>
          <a:p>
            <a:r>
              <a:rPr lang="en-US" b="1" dirty="0">
                <a:solidFill>
                  <a:schemeClr val="bg1">
                    <a:lumMod val="50000"/>
                  </a:schemeClr>
                </a:solidFill>
              </a:rPr>
              <a:t>Spatial organization of activities and the facilities with which they are associated: a simple model.</a:t>
            </a:r>
          </a:p>
        </p:txBody>
      </p:sp>
      <p:sp>
        <p:nvSpPr>
          <p:cNvPr id="19459" name="Text Box 3"/>
          <p:cNvSpPr txBox="1">
            <a:spLocks noChangeArrowheads="1"/>
          </p:cNvSpPr>
          <p:nvPr/>
        </p:nvSpPr>
        <p:spPr bwMode="auto">
          <a:xfrm>
            <a:off x="732692" y="1524000"/>
            <a:ext cx="10515600" cy="7294305"/>
          </a:xfrm>
          <a:prstGeom prst="rect">
            <a:avLst/>
          </a:prstGeom>
          <a:noFill/>
          <a:ln w="9525">
            <a:noFill/>
            <a:miter lim="800000"/>
            <a:headEnd/>
            <a:tailEnd/>
          </a:ln>
          <a:effectLst/>
        </p:spPr>
        <p:txBody>
          <a:bodyPr wrap="square">
            <a:spAutoFit/>
          </a:bodyPr>
          <a:lstStyle/>
          <a:p>
            <a:r>
              <a:rPr lang="en-US" dirty="0"/>
              <a:t>Imagine a domestic site where all activities (</a:t>
            </a:r>
            <a:r>
              <a:rPr lang="en-US" dirty="0" err="1"/>
              <a:t>e.g</a:t>
            </a:r>
            <a:r>
              <a:rPr lang="en-US" dirty="0"/>
              <a:t> eating, sleeping, food preparation, bulk processing, storage) all happen in the same place.</a:t>
            </a:r>
          </a:p>
          <a:p>
            <a:endParaRPr lang="en-US" dirty="0"/>
          </a:p>
          <a:p>
            <a:r>
              <a:rPr lang="en-US" dirty="0"/>
              <a:t>The extent to which one activity will be spatial segregated from others is a function of </a:t>
            </a:r>
          </a:p>
          <a:p>
            <a:endParaRPr lang="en-US" dirty="0"/>
          </a:p>
          <a:p>
            <a:pPr marL="285750" indent="-285750">
              <a:buFont typeface="Arial" panose="020B0604020202020204" pitchFamily="34" charset="0"/>
              <a:buChar char="•"/>
            </a:pPr>
            <a:r>
              <a:rPr lang="en-US" dirty="0"/>
              <a:t>Benefits of moving scale inversely with interference potential:</a:t>
            </a:r>
          </a:p>
          <a:p>
            <a:pPr marL="742950" lvl="1" indent="-285750">
              <a:buFont typeface="Courier New" panose="02070309020205020404" pitchFamily="49" charset="0"/>
              <a:buChar char="o"/>
            </a:pPr>
            <a:r>
              <a:rPr lang="en-US" dirty="0"/>
              <a:t>activities take up lots of space</a:t>
            </a:r>
          </a:p>
          <a:p>
            <a:pPr marL="742950" lvl="1" indent="-285750">
              <a:buFont typeface="Courier New" panose="02070309020205020404" pitchFamily="49" charset="0"/>
              <a:buChar char="o"/>
            </a:pPr>
            <a:r>
              <a:rPr lang="en-US" dirty="0"/>
              <a:t>activities are dangerous</a:t>
            </a:r>
          </a:p>
          <a:p>
            <a:pPr marL="742950" lvl="1" indent="-285750">
              <a:buFont typeface="Courier New" panose="02070309020205020404" pitchFamily="49" charset="0"/>
              <a:buChar char="o"/>
            </a:pPr>
            <a:r>
              <a:rPr lang="en-US" dirty="0"/>
              <a:t>activities require uninterrupted time </a:t>
            </a:r>
          </a:p>
          <a:p>
            <a:pPr marL="742950" lvl="1" indent="-285750">
              <a:buFont typeface="Arial" panose="020B0604020202020204" pitchFamily="34" charset="0"/>
              <a:buChar char="•"/>
            </a:pPr>
            <a:endParaRPr lang="en-US" dirty="0"/>
          </a:p>
          <a:p>
            <a:pPr lvl="1"/>
            <a:r>
              <a:rPr lang="en-US" i="1" dirty="0"/>
              <a:t>Higher interference potential means activities are more likely to be moved </a:t>
            </a:r>
          </a:p>
          <a:p>
            <a:r>
              <a:rPr lang="en-US" i="1" dirty="0"/>
              <a:t>	farther away. </a:t>
            </a:r>
          </a:p>
          <a:p>
            <a:r>
              <a:rPr lang="en-US" dirty="0"/>
              <a:t>		</a:t>
            </a:r>
          </a:p>
          <a:p>
            <a:pPr marL="285750" indent="-285750">
              <a:buFont typeface="Arial" panose="020B0604020202020204" pitchFamily="34" charset="0"/>
              <a:buChar char="•"/>
            </a:pPr>
            <a:r>
              <a:rPr lang="en-US" dirty="0"/>
              <a:t>Costs of moving the interfering activity </a:t>
            </a:r>
          </a:p>
          <a:p>
            <a:pPr marL="742950" lvl="1" indent="-285750">
              <a:buFont typeface="Courier New" panose="02070309020205020404" pitchFamily="49" charset="0"/>
              <a:buChar char="o"/>
            </a:pPr>
            <a:r>
              <a:rPr lang="en-US" dirty="0"/>
              <a:t>Greater distance means greater travel costs to and from</a:t>
            </a:r>
          </a:p>
          <a:p>
            <a:pPr marL="742950" lvl="1" indent="-285750">
              <a:buFont typeface="Courier New" panose="02070309020205020404" pitchFamily="49" charset="0"/>
              <a:buChar char="o"/>
            </a:pPr>
            <a:r>
              <a:rPr lang="en-US" dirty="0"/>
              <a:t>Greater access frequency also increases travel costs. </a:t>
            </a:r>
          </a:p>
          <a:p>
            <a:pPr marL="742950" lvl="1" indent="-285750">
              <a:buFont typeface="Courier New" panose="02070309020205020404" pitchFamily="49" charset="0"/>
              <a:buChar char="o"/>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lvl="1"/>
            <a:endParaRPr lang="en-US" dirty="0"/>
          </a:p>
          <a:p>
            <a:pPr lvl="1"/>
            <a:r>
              <a:rPr lang="en-US" dirty="0"/>
              <a:t> </a:t>
            </a:r>
          </a:p>
          <a:p>
            <a:endParaRPr lang="en-US" dirty="0"/>
          </a:p>
          <a:p>
            <a:endParaRPr lang="en-US"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0" name="Text Box 10"/>
          <p:cNvSpPr txBox="1">
            <a:spLocks noChangeArrowheads="1"/>
          </p:cNvSpPr>
          <p:nvPr/>
        </p:nvSpPr>
        <p:spPr bwMode="auto">
          <a:xfrm>
            <a:off x="1676400" y="76201"/>
            <a:ext cx="4403898" cy="461665"/>
          </a:xfrm>
          <a:prstGeom prst="rect">
            <a:avLst/>
          </a:prstGeom>
          <a:noFill/>
          <a:ln w="9525">
            <a:noFill/>
            <a:miter lim="800000"/>
            <a:headEnd/>
            <a:tailEnd/>
          </a:ln>
          <a:effectLst/>
        </p:spPr>
        <p:txBody>
          <a:bodyPr wrap="none">
            <a:spAutoFit/>
          </a:bodyPr>
          <a:lstStyle/>
          <a:p>
            <a:r>
              <a:rPr lang="en-US" sz="2400" b="1" dirty="0">
                <a:solidFill>
                  <a:schemeClr val="bg1">
                    <a:lumMod val="50000"/>
                  </a:schemeClr>
                </a:solidFill>
              </a:rPr>
              <a:t>General vs. Special Activity Areas</a:t>
            </a:r>
          </a:p>
        </p:txBody>
      </p:sp>
      <p:sp>
        <p:nvSpPr>
          <p:cNvPr id="20491" name="Text Box 11"/>
          <p:cNvSpPr txBox="1">
            <a:spLocks noChangeArrowheads="1"/>
          </p:cNvSpPr>
          <p:nvPr/>
        </p:nvSpPr>
        <p:spPr bwMode="auto">
          <a:xfrm>
            <a:off x="1736725" y="1103313"/>
            <a:ext cx="184150" cy="366712"/>
          </a:xfrm>
          <a:prstGeom prst="rect">
            <a:avLst/>
          </a:prstGeom>
          <a:noFill/>
          <a:ln w="9525">
            <a:noFill/>
            <a:miter lim="800000"/>
            <a:headEnd/>
            <a:tailEnd/>
          </a:ln>
          <a:effectLst/>
        </p:spPr>
        <p:txBody>
          <a:bodyPr wrap="none">
            <a:spAutoFit/>
          </a:bodyPr>
          <a:lstStyle/>
          <a:p>
            <a:endParaRPr lang="en-US"/>
          </a:p>
        </p:txBody>
      </p:sp>
      <p:sp>
        <p:nvSpPr>
          <p:cNvPr id="20492" name="Text Box 12"/>
          <p:cNvSpPr txBox="1">
            <a:spLocks noChangeArrowheads="1"/>
          </p:cNvSpPr>
          <p:nvPr/>
        </p:nvSpPr>
        <p:spPr bwMode="auto">
          <a:xfrm>
            <a:off x="1676400" y="762001"/>
            <a:ext cx="5029200" cy="3387725"/>
          </a:xfrm>
          <a:prstGeom prst="rect">
            <a:avLst/>
          </a:prstGeom>
          <a:noFill/>
          <a:ln w="9525">
            <a:noFill/>
            <a:miter lim="800000"/>
            <a:headEnd/>
            <a:tailEnd/>
          </a:ln>
          <a:effectLst/>
        </p:spPr>
        <p:txBody>
          <a:bodyPr>
            <a:spAutoFit/>
          </a:bodyPr>
          <a:lstStyle/>
          <a:p>
            <a:r>
              <a:rPr lang="en-US" b="1" dirty="0"/>
              <a:t>General Activity Areas</a:t>
            </a:r>
          </a:p>
          <a:p>
            <a:r>
              <a:rPr lang="en-US" dirty="0"/>
              <a:t>	-sleeping, eating, socializing, cooking</a:t>
            </a:r>
          </a:p>
          <a:p>
            <a:r>
              <a:rPr lang="en-US" dirty="0"/>
              <a:t>	-sleeping, cooking often separate 	within them</a:t>
            </a:r>
          </a:p>
          <a:p>
            <a:endParaRPr lang="en-US" dirty="0"/>
          </a:p>
          <a:p>
            <a:r>
              <a:rPr lang="en-US" dirty="0"/>
              <a:t>	-Family  (kin based)</a:t>
            </a:r>
          </a:p>
          <a:p>
            <a:r>
              <a:rPr lang="en-US" dirty="0"/>
              <a:t>	-Communal (cross cut kin lines 		e.g. gender based)</a:t>
            </a:r>
          </a:p>
          <a:p>
            <a:endParaRPr lang="en-US" dirty="0"/>
          </a:p>
          <a:p>
            <a:r>
              <a:rPr lang="en-US" dirty="0" err="1"/>
              <a:t>a.k.a</a:t>
            </a:r>
            <a:r>
              <a:rPr lang="en-US" dirty="0"/>
              <a:t>, 	“nuclear” (John </a:t>
            </a:r>
            <a:r>
              <a:rPr lang="en-US" dirty="0" err="1"/>
              <a:t>Yellen</a:t>
            </a:r>
            <a:r>
              <a:rPr lang="en-US" dirty="0"/>
              <a:t>)</a:t>
            </a:r>
          </a:p>
          <a:p>
            <a:r>
              <a:rPr lang="en-US" dirty="0"/>
              <a:t>	“intensive” (Lewis </a:t>
            </a:r>
            <a:r>
              <a:rPr lang="en-US" dirty="0" err="1"/>
              <a:t>Binford</a:t>
            </a:r>
            <a:r>
              <a:rPr lang="en-US" dirty="0"/>
              <a:t>”</a:t>
            </a:r>
          </a:p>
          <a:p>
            <a:r>
              <a:rPr lang="en-US" dirty="0"/>
              <a:t>	“household” (O’Connell)</a:t>
            </a:r>
          </a:p>
        </p:txBody>
      </p:sp>
      <p:sp>
        <p:nvSpPr>
          <p:cNvPr id="20493" name="Text Box 13"/>
          <p:cNvSpPr txBox="1">
            <a:spLocks noChangeArrowheads="1"/>
          </p:cNvSpPr>
          <p:nvPr/>
        </p:nvSpPr>
        <p:spPr bwMode="auto">
          <a:xfrm>
            <a:off x="1689562" y="4365424"/>
            <a:ext cx="5194948" cy="2308324"/>
          </a:xfrm>
          <a:prstGeom prst="rect">
            <a:avLst/>
          </a:prstGeom>
          <a:noFill/>
          <a:ln w="9525">
            <a:noFill/>
            <a:miter lim="800000"/>
            <a:headEnd/>
            <a:tailEnd/>
          </a:ln>
          <a:effectLst/>
        </p:spPr>
        <p:txBody>
          <a:bodyPr wrap="none">
            <a:spAutoFit/>
          </a:bodyPr>
          <a:lstStyle/>
          <a:p>
            <a:r>
              <a:rPr lang="en-US" b="1" dirty="0"/>
              <a:t>Special Activity Areas</a:t>
            </a:r>
          </a:p>
          <a:p>
            <a:r>
              <a:rPr lang="en-US" b="1" dirty="0">
                <a:solidFill>
                  <a:schemeClr val="accent2"/>
                </a:solidFill>
              </a:rPr>
              <a:t>	-</a:t>
            </a:r>
            <a:r>
              <a:rPr lang="en-US" dirty="0"/>
              <a:t>ecologically variable</a:t>
            </a:r>
          </a:p>
          <a:p>
            <a:r>
              <a:rPr lang="en-US" dirty="0"/>
              <a:t>	-e.g. kangaroo roasting, car repair</a:t>
            </a:r>
          </a:p>
          <a:p>
            <a:r>
              <a:rPr lang="en-US" dirty="0"/>
              <a:t>	-cooking for large numbers (signals)</a:t>
            </a:r>
          </a:p>
          <a:p>
            <a:r>
              <a:rPr lang="en-US" dirty="0"/>
              <a:t>	-bulk processing and storage of agricultural </a:t>
            </a:r>
          </a:p>
          <a:p>
            <a:r>
              <a:rPr lang="en-US" dirty="0"/>
              <a:t>	produce</a:t>
            </a:r>
          </a:p>
          <a:p>
            <a:r>
              <a:rPr lang="en-US" dirty="0"/>
              <a:t>	-lots of refuse, space, time</a:t>
            </a:r>
          </a:p>
          <a:p>
            <a:endParaRPr lang="en-US" b="1" dirty="0">
              <a:solidFill>
                <a:schemeClr val="accent2"/>
              </a:solidFill>
            </a:endParaRPr>
          </a:p>
        </p:txBody>
      </p:sp>
      <p:grpSp>
        <p:nvGrpSpPr>
          <p:cNvPr id="2" name="Group 16"/>
          <p:cNvGrpSpPr/>
          <p:nvPr/>
        </p:nvGrpSpPr>
        <p:grpSpPr>
          <a:xfrm>
            <a:off x="6400800" y="1295400"/>
            <a:ext cx="3886200" cy="4876800"/>
            <a:chOff x="4876800" y="1295400"/>
            <a:chExt cx="3886200" cy="4876800"/>
          </a:xfrm>
        </p:grpSpPr>
        <p:sp>
          <p:nvSpPr>
            <p:cNvPr id="20482" name="Oval 2"/>
            <p:cNvSpPr>
              <a:spLocks noChangeArrowheads="1"/>
            </p:cNvSpPr>
            <p:nvPr/>
          </p:nvSpPr>
          <p:spPr bwMode="auto">
            <a:xfrm>
              <a:off x="4876800" y="2819400"/>
              <a:ext cx="1676400" cy="1600200"/>
            </a:xfrm>
            <a:prstGeom prst="ellipse">
              <a:avLst/>
            </a:prstGeom>
            <a:solidFill>
              <a:schemeClr val="accent1"/>
            </a:solidFill>
            <a:ln w="9525">
              <a:solidFill>
                <a:schemeClr val="tx1"/>
              </a:solidFill>
              <a:round/>
              <a:headEnd/>
              <a:tailEnd/>
            </a:ln>
            <a:effectLst/>
          </p:spPr>
          <p:txBody>
            <a:bodyPr wrap="none" anchor="ctr"/>
            <a:lstStyle/>
            <a:p>
              <a:pPr algn="ctr"/>
              <a:r>
                <a:rPr lang="en-US" dirty="0"/>
                <a:t>General</a:t>
              </a:r>
            </a:p>
            <a:p>
              <a:pPr algn="ctr"/>
              <a:r>
                <a:rPr lang="en-US" dirty="0"/>
                <a:t>Activity Area</a:t>
              </a:r>
            </a:p>
          </p:txBody>
        </p:sp>
        <p:sp>
          <p:nvSpPr>
            <p:cNvPr id="20483" name="Oval 3"/>
            <p:cNvSpPr>
              <a:spLocks noChangeArrowheads="1"/>
            </p:cNvSpPr>
            <p:nvPr/>
          </p:nvSpPr>
          <p:spPr bwMode="auto">
            <a:xfrm>
              <a:off x="7543800" y="19812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0484" name="Oval 4"/>
            <p:cNvSpPr>
              <a:spLocks noChangeArrowheads="1"/>
            </p:cNvSpPr>
            <p:nvPr/>
          </p:nvSpPr>
          <p:spPr bwMode="auto">
            <a:xfrm>
              <a:off x="7924800" y="40386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0485" name="Oval 5"/>
            <p:cNvSpPr>
              <a:spLocks noChangeArrowheads="1"/>
            </p:cNvSpPr>
            <p:nvPr/>
          </p:nvSpPr>
          <p:spPr bwMode="auto">
            <a:xfrm>
              <a:off x="5943600" y="53340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0486" name="Text Box 6"/>
            <p:cNvSpPr txBox="1">
              <a:spLocks noChangeArrowheads="1"/>
            </p:cNvSpPr>
            <p:nvPr/>
          </p:nvSpPr>
          <p:spPr bwMode="auto">
            <a:xfrm>
              <a:off x="6019800" y="4343400"/>
              <a:ext cx="1462452" cy="646331"/>
            </a:xfrm>
            <a:prstGeom prst="rect">
              <a:avLst/>
            </a:prstGeom>
            <a:noFill/>
            <a:ln w="9525">
              <a:noFill/>
              <a:miter lim="800000"/>
              <a:headEnd/>
              <a:tailEnd/>
            </a:ln>
            <a:effectLst/>
          </p:spPr>
          <p:txBody>
            <a:bodyPr wrap="none">
              <a:spAutoFit/>
            </a:bodyPr>
            <a:lstStyle/>
            <a:p>
              <a:r>
                <a:rPr lang="en-US"/>
                <a:t>Special</a:t>
              </a:r>
            </a:p>
            <a:p>
              <a:r>
                <a:rPr lang="en-US"/>
                <a:t>Activity Areas</a:t>
              </a:r>
            </a:p>
          </p:txBody>
        </p:sp>
        <p:sp>
          <p:nvSpPr>
            <p:cNvPr id="20487" name="Line 7"/>
            <p:cNvSpPr>
              <a:spLocks noChangeShapeType="1"/>
            </p:cNvSpPr>
            <p:nvPr/>
          </p:nvSpPr>
          <p:spPr bwMode="auto">
            <a:xfrm flipV="1">
              <a:off x="7010400" y="2590800"/>
              <a:ext cx="762000" cy="1905000"/>
            </a:xfrm>
            <a:prstGeom prst="line">
              <a:avLst/>
            </a:prstGeom>
            <a:noFill/>
            <a:ln w="9525">
              <a:solidFill>
                <a:schemeClr val="tx1"/>
              </a:solidFill>
              <a:round/>
              <a:headEnd/>
              <a:tailEnd type="triangle" w="med" len="med"/>
            </a:ln>
            <a:effectLst/>
          </p:spPr>
          <p:txBody>
            <a:bodyPr/>
            <a:lstStyle/>
            <a:p>
              <a:endParaRPr lang="en-US"/>
            </a:p>
          </p:txBody>
        </p:sp>
        <p:sp>
          <p:nvSpPr>
            <p:cNvPr id="20488" name="Line 8"/>
            <p:cNvSpPr>
              <a:spLocks noChangeShapeType="1"/>
            </p:cNvSpPr>
            <p:nvPr/>
          </p:nvSpPr>
          <p:spPr bwMode="auto">
            <a:xfrm flipV="1">
              <a:off x="7696200" y="4495800"/>
              <a:ext cx="685800" cy="381000"/>
            </a:xfrm>
            <a:prstGeom prst="line">
              <a:avLst/>
            </a:prstGeom>
            <a:noFill/>
            <a:ln w="9525">
              <a:solidFill>
                <a:schemeClr val="tx1"/>
              </a:solidFill>
              <a:round/>
              <a:headEnd/>
              <a:tailEnd type="triangle" w="med" len="med"/>
            </a:ln>
            <a:effectLst/>
          </p:spPr>
          <p:txBody>
            <a:bodyPr/>
            <a:lstStyle/>
            <a:p>
              <a:endParaRPr lang="en-US"/>
            </a:p>
          </p:txBody>
        </p:sp>
        <p:sp>
          <p:nvSpPr>
            <p:cNvPr id="20489" name="Line 9"/>
            <p:cNvSpPr>
              <a:spLocks noChangeShapeType="1"/>
            </p:cNvSpPr>
            <p:nvPr/>
          </p:nvSpPr>
          <p:spPr bwMode="auto">
            <a:xfrm flipH="1">
              <a:off x="6324600" y="4953000"/>
              <a:ext cx="76200" cy="609600"/>
            </a:xfrm>
            <a:prstGeom prst="line">
              <a:avLst/>
            </a:prstGeom>
            <a:noFill/>
            <a:ln w="9525">
              <a:solidFill>
                <a:schemeClr val="tx1"/>
              </a:solidFill>
              <a:round/>
              <a:headEnd/>
              <a:tailEnd type="triangle" w="med" len="med"/>
            </a:ln>
            <a:effectLst/>
          </p:spPr>
          <p:txBody>
            <a:bodyPr/>
            <a:lstStyle/>
            <a:p>
              <a:endParaRPr lang="en-US"/>
            </a:p>
          </p:txBody>
        </p:sp>
        <p:sp>
          <p:nvSpPr>
            <p:cNvPr id="20494" name="Oval 14"/>
            <p:cNvSpPr>
              <a:spLocks noChangeArrowheads="1"/>
            </p:cNvSpPr>
            <p:nvPr/>
          </p:nvSpPr>
          <p:spPr bwMode="auto">
            <a:xfrm>
              <a:off x="5410200" y="12954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cstate="print"/>
          <a:srcRect/>
          <a:stretch>
            <a:fillRect/>
          </a:stretch>
        </p:blipFill>
        <p:spPr bwMode="auto">
          <a:xfrm>
            <a:off x="3855555" y="490538"/>
            <a:ext cx="6779535" cy="6367463"/>
          </a:xfrm>
          <a:prstGeom prst="rect">
            <a:avLst/>
          </a:prstGeom>
          <a:noFill/>
          <a:ln w="9525">
            <a:noFill/>
            <a:miter lim="800000"/>
            <a:headEnd/>
            <a:tailEnd/>
          </a:ln>
          <a:effectLst/>
        </p:spPr>
      </p:pic>
      <p:sp>
        <p:nvSpPr>
          <p:cNvPr id="3" name="Rectangle 2"/>
          <p:cNvSpPr/>
          <p:nvPr/>
        </p:nvSpPr>
        <p:spPr>
          <a:xfrm>
            <a:off x="1676401" y="274249"/>
            <a:ext cx="4358309" cy="461665"/>
          </a:xfrm>
          <a:prstGeom prst="rect">
            <a:avLst/>
          </a:prstGeom>
        </p:spPr>
        <p:txBody>
          <a:bodyPr wrap="none">
            <a:spAutoFit/>
          </a:bodyPr>
          <a:lstStyle/>
          <a:p>
            <a:r>
              <a:rPr lang="en-US" sz="2400" b="1" dirty="0">
                <a:solidFill>
                  <a:schemeClr val="bg1">
                    <a:lumMod val="50000"/>
                  </a:schemeClr>
                </a:solidFill>
              </a:rPr>
              <a:t>Implications for Site Structure ….</a:t>
            </a:r>
          </a:p>
        </p:txBody>
      </p:sp>
      <p:sp>
        <p:nvSpPr>
          <p:cNvPr id="4" name="TextBox 3">
            <a:extLst>
              <a:ext uri="{FF2B5EF4-FFF2-40B4-BE49-F238E27FC236}">
                <a16:creationId xmlns:a16="http://schemas.microsoft.com/office/drawing/2014/main" id="{7AC3FF1F-906C-0FC6-57D1-F702073E67B1}"/>
              </a:ext>
            </a:extLst>
          </p:cNvPr>
          <p:cNvSpPr txBox="1"/>
          <p:nvPr/>
        </p:nvSpPr>
        <p:spPr>
          <a:xfrm>
            <a:off x="1732826" y="5628799"/>
            <a:ext cx="4358310" cy="738664"/>
          </a:xfrm>
          <a:prstGeom prst="rect">
            <a:avLst/>
          </a:prstGeom>
          <a:noFill/>
        </p:spPr>
        <p:txBody>
          <a:bodyPr wrap="square" rtlCol="0">
            <a:spAutoFit/>
          </a:bodyPr>
          <a:lstStyle/>
          <a:p>
            <a:r>
              <a:rPr lang="en-US" sz="1400" dirty="0"/>
              <a:t>Source: </a:t>
            </a:r>
          </a:p>
          <a:p>
            <a:r>
              <a:rPr lang="en-US" sz="1400" dirty="0"/>
              <a:t>O’Connell, James, 1987, “Alyawara Site Structure and Its Archaeological Implications. </a:t>
            </a:r>
            <a:r>
              <a:rPr lang="en-US" sz="1400" i="1" dirty="0"/>
              <a:t>American Antiquity </a:t>
            </a:r>
            <a:r>
              <a:rPr lang="en-US" sz="1400" dirty="0"/>
              <a:t>52(1):74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descr="Clifts Plantation pits"/>
          <p:cNvPicPr>
            <a:picLocks noChangeAspect="1" noChangeArrowheads="1"/>
          </p:cNvPicPr>
          <p:nvPr/>
        </p:nvPicPr>
        <p:blipFill>
          <a:blip r:embed="rId2" cstate="print"/>
          <a:srcRect/>
          <a:stretch>
            <a:fillRect/>
          </a:stretch>
        </p:blipFill>
        <p:spPr bwMode="auto">
          <a:xfrm>
            <a:off x="2611439" y="0"/>
            <a:ext cx="6626225" cy="6858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402" name="Picture 2" descr="0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3175"/>
            <a:ext cx="9906000" cy="6761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76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5844" name="Picture 4" descr="Clifts-pit2"/>
          <p:cNvPicPr>
            <a:picLocks noChangeAspect="1" noChangeArrowheads="1"/>
          </p:cNvPicPr>
          <p:nvPr/>
        </p:nvPicPr>
        <p:blipFill>
          <a:blip r:embed="rId2" cstate="print"/>
          <a:srcRect/>
          <a:stretch>
            <a:fillRect/>
          </a:stretch>
        </p:blipFill>
        <p:spPr bwMode="auto">
          <a:xfrm>
            <a:off x="1524000" y="230188"/>
            <a:ext cx="9144000" cy="6011862"/>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6" name="Picture 4" descr="CliftsPlantationStructure1"/>
          <p:cNvPicPr>
            <a:picLocks noChangeAspect="1" noChangeArrowheads="1"/>
          </p:cNvPicPr>
          <p:nvPr/>
        </p:nvPicPr>
        <p:blipFill>
          <a:blip r:embed="rId2" cstate="print"/>
          <a:srcRect/>
          <a:stretch>
            <a:fillRect/>
          </a:stretch>
        </p:blipFill>
        <p:spPr bwMode="auto">
          <a:xfrm>
            <a:off x="2309814" y="-136525"/>
            <a:ext cx="7572375" cy="6994525"/>
          </a:xfrm>
          <a:prstGeom prst="rect">
            <a:avLst/>
          </a:prstGeom>
          <a:noFill/>
          <a:ln w="19050">
            <a:noFill/>
            <a:prstDash val="sysDot"/>
            <a:miter lim="800000"/>
            <a:headEnd/>
            <a:tailEnd/>
          </a:ln>
        </p:spPr>
      </p:pic>
      <p:sp>
        <p:nvSpPr>
          <p:cNvPr id="54284" name="Line 12"/>
          <p:cNvSpPr>
            <a:spLocks noChangeShapeType="1"/>
          </p:cNvSpPr>
          <p:nvPr/>
        </p:nvSpPr>
        <p:spPr bwMode="auto">
          <a:xfrm>
            <a:off x="4648200" y="2971800"/>
            <a:ext cx="228600" cy="0"/>
          </a:xfrm>
          <a:prstGeom prst="line">
            <a:avLst/>
          </a:prstGeom>
          <a:noFill/>
          <a:ln w="19050">
            <a:solidFill>
              <a:schemeClr val="tx1"/>
            </a:solidFill>
            <a:prstDash val="sysDot"/>
            <a:round/>
            <a:headEnd/>
            <a:tailEnd/>
          </a:ln>
          <a:effectLst/>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4"/>
          <p:cNvPicPr>
            <a:picLocks noChangeAspect="1" noChangeArrowheads="1"/>
          </p:cNvPicPr>
          <p:nvPr/>
        </p:nvPicPr>
        <p:blipFill>
          <a:blip r:embed="rId2" cstate="print"/>
          <a:srcRect/>
          <a:stretch>
            <a:fillRect/>
          </a:stretch>
        </p:blipFill>
        <p:spPr bwMode="auto">
          <a:xfrm>
            <a:off x="2743201" y="1"/>
            <a:ext cx="6691313" cy="65690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4" descr="77_071"/>
          <p:cNvPicPr>
            <a:picLocks noChangeAspect="1" noChangeArrowheads="1"/>
          </p:cNvPicPr>
          <p:nvPr/>
        </p:nvPicPr>
        <p:blipFill>
          <a:blip r:embed="rId2" cstate="print"/>
          <a:srcRect/>
          <a:stretch>
            <a:fillRect/>
          </a:stretch>
        </p:blipFill>
        <p:spPr bwMode="auto">
          <a:xfrm>
            <a:off x="1295400" y="1"/>
            <a:ext cx="9677400" cy="6605587"/>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descr="Clifts Plantation pits"/>
          <p:cNvPicPr>
            <a:picLocks noChangeAspect="1" noChangeArrowheads="1"/>
          </p:cNvPicPr>
          <p:nvPr/>
        </p:nvPicPr>
        <p:blipFill>
          <a:blip r:embed="rId2" cstate="print"/>
          <a:srcRect/>
          <a:stretch>
            <a:fillRect/>
          </a:stretch>
        </p:blipFill>
        <p:spPr bwMode="auto">
          <a:xfrm>
            <a:off x="2611439" y="0"/>
            <a:ext cx="6626225" cy="68580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descr="78_092"/>
          <p:cNvPicPr>
            <a:picLocks noChangeAspect="1" noChangeArrowheads="1"/>
          </p:cNvPicPr>
          <p:nvPr/>
        </p:nvPicPr>
        <p:blipFill>
          <a:blip r:embed="rId2" cstate="print"/>
          <a:srcRect/>
          <a:stretch>
            <a:fillRect/>
          </a:stretch>
        </p:blipFill>
        <p:spPr bwMode="auto">
          <a:xfrm>
            <a:off x="647700" y="1"/>
            <a:ext cx="10896600" cy="743902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descr="Clifts Plantation pits"/>
          <p:cNvPicPr>
            <a:picLocks noChangeAspect="1" noChangeArrowheads="1"/>
          </p:cNvPicPr>
          <p:nvPr/>
        </p:nvPicPr>
        <p:blipFill>
          <a:blip r:embed="rId2" cstate="print"/>
          <a:srcRect/>
          <a:stretch>
            <a:fillRect/>
          </a:stretch>
        </p:blipFill>
        <p:spPr bwMode="auto">
          <a:xfrm>
            <a:off x="2611439" y="0"/>
            <a:ext cx="6626225" cy="68580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p:cNvPicPr>
            <a:picLocks noChangeAspect="1" noChangeArrowheads="1"/>
          </p:cNvPicPr>
          <p:nvPr/>
        </p:nvPicPr>
        <p:blipFill>
          <a:blip r:embed="rId2" cstate="print"/>
          <a:srcRect/>
          <a:stretch>
            <a:fillRect/>
          </a:stretch>
        </p:blipFill>
        <p:spPr bwMode="auto">
          <a:xfrm>
            <a:off x="3505201" y="457201"/>
            <a:ext cx="5033963" cy="590589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341F1EE3-242B-48A1-8ED1-21E767DA5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1344" y="901486"/>
            <a:ext cx="9153525" cy="5499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A83969EE-1F4D-46BD-AAFE-D1F198F353E3}"/>
              </a:ext>
            </a:extLst>
          </p:cNvPr>
          <p:cNvSpPr txBox="1"/>
          <p:nvPr/>
        </p:nvSpPr>
        <p:spPr>
          <a:xfrm>
            <a:off x="2209801" y="152401"/>
            <a:ext cx="3735831" cy="1015663"/>
          </a:xfrm>
          <a:prstGeom prst="rect">
            <a:avLst/>
          </a:prstGeom>
          <a:noFill/>
        </p:spPr>
        <p:txBody>
          <a:bodyPr wrap="none" rtlCol="0">
            <a:spAutoFit/>
          </a:bodyPr>
          <a:lstStyle/>
          <a:p>
            <a:r>
              <a:rPr lang="en-US" sz="2400" b="1" dirty="0" err="1">
                <a:solidFill>
                  <a:schemeClr val="bg1">
                    <a:lumMod val="50000"/>
                  </a:schemeClr>
                </a:solidFill>
              </a:rPr>
              <a:t>Clifts</a:t>
            </a:r>
            <a:r>
              <a:rPr lang="en-US" sz="2400" b="1" dirty="0">
                <a:solidFill>
                  <a:schemeClr val="bg1">
                    <a:lumMod val="50000"/>
                  </a:schemeClr>
                </a:solidFill>
              </a:rPr>
              <a:t> Plantation</a:t>
            </a:r>
          </a:p>
          <a:p>
            <a:r>
              <a:rPr lang="en-US" dirty="0"/>
              <a:t>Distances of pits from the main house</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A1238C-6EA5-47C9-9843-9FB3388416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457200"/>
            <a:ext cx="7027797" cy="6483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A01EE2E3-91CC-4DF9-A82D-B1ECD739CB36}"/>
              </a:ext>
            </a:extLst>
          </p:cNvPr>
          <p:cNvSpPr txBox="1"/>
          <p:nvPr/>
        </p:nvSpPr>
        <p:spPr>
          <a:xfrm>
            <a:off x="3657600" y="1295400"/>
            <a:ext cx="301686" cy="369332"/>
          </a:xfrm>
          <a:prstGeom prst="rect">
            <a:avLst/>
          </a:prstGeom>
          <a:noFill/>
        </p:spPr>
        <p:txBody>
          <a:bodyPr wrap="none" rtlCol="0">
            <a:spAutoFit/>
          </a:bodyPr>
          <a:lstStyle/>
          <a:p>
            <a:r>
              <a:rPr lang="en-US" dirty="0"/>
              <a:t>1</a:t>
            </a:r>
          </a:p>
        </p:txBody>
      </p:sp>
      <p:sp>
        <p:nvSpPr>
          <p:cNvPr id="4" name="TextBox 3">
            <a:extLst>
              <a:ext uri="{FF2B5EF4-FFF2-40B4-BE49-F238E27FC236}">
                <a16:creationId xmlns:a16="http://schemas.microsoft.com/office/drawing/2014/main" id="{45EDD05A-D5A2-4E6F-B03C-1D369D408DB9}"/>
              </a:ext>
            </a:extLst>
          </p:cNvPr>
          <p:cNvSpPr txBox="1"/>
          <p:nvPr/>
        </p:nvSpPr>
        <p:spPr>
          <a:xfrm>
            <a:off x="8686800" y="3244334"/>
            <a:ext cx="301686" cy="369332"/>
          </a:xfrm>
          <a:prstGeom prst="rect">
            <a:avLst/>
          </a:prstGeom>
          <a:noFill/>
        </p:spPr>
        <p:txBody>
          <a:bodyPr wrap="none" rtlCol="0">
            <a:spAutoFit/>
          </a:bodyPr>
          <a:lstStyle/>
          <a:p>
            <a:r>
              <a:rPr lang="en-US" dirty="0"/>
              <a:t>2</a:t>
            </a:r>
          </a:p>
        </p:txBody>
      </p:sp>
      <p:sp>
        <p:nvSpPr>
          <p:cNvPr id="5" name="TextBox 4">
            <a:extLst>
              <a:ext uri="{FF2B5EF4-FFF2-40B4-BE49-F238E27FC236}">
                <a16:creationId xmlns:a16="http://schemas.microsoft.com/office/drawing/2014/main" id="{9F7364E0-5D82-40F7-96D1-00B8D275E9BE}"/>
              </a:ext>
            </a:extLst>
          </p:cNvPr>
          <p:cNvSpPr txBox="1"/>
          <p:nvPr/>
        </p:nvSpPr>
        <p:spPr>
          <a:xfrm>
            <a:off x="5794314" y="5257800"/>
            <a:ext cx="301686" cy="369332"/>
          </a:xfrm>
          <a:prstGeom prst="rect">
            <a:avLst/>
          </a:prstGeom>
          <a:noFill/>
        </p:spPr>
        <p:txBody>
          <a:bodyPr wrap="none" rtlCol="0">
            <a:spAutoFit/>
          </a:bodyPr>
          <a:lstStyle/>
          <a:p>
            <a:r>
              <a:rPr lang="en-US" dirty="0"/>
              <a:t>3</a:t>
            </a:r>
          </a:p>
        </p:txBody>
      </p:sp>
      <p:sp>
        <p:nvSpPr>
          <p:cNvPr id="7" name="TextBox 6">
            <a:extLst>
              <a:ext uri="{FF2B5EF4-FFF2-40B4-BE49-F238E27FC236}">
                <a16:creationId xmlns:a16="http://schemas.microsoft.com/office/drawing/2014/main" id="{6725A0EC-BA80-48E3-967C-F5A8238C8A1C}"/>
              </a:ext>
            </a:extLst>
          </p:cNvPr>
          <p:cNvSpPr txBox="1"/>
          <p:nvPr/>
        </p:nvSpPr>
        <p:spPr>
          <a:xfrm>
            <a:off x="4953000" y="4659868"/>
            <a:ext cx="301686" cy="369332"/>
          </a:xfrm>
          <a:prstGeom prst="rect">
            <a:avLst/>
          </a:prstGeom>
          <a:noFill/>
        </p:spPr>
        <p:txBody>
          <a:bodyPr wrap="none" rtlCol="0">
            <a:spAutoFit/>
          </a:bodyPr>
          <a:lstStyle/>
          <a:p>
            <a:r>
              <a:rPr lang="en-US" dirty="0"/>
              <a:t>4</a:t>
            </a:r>
          </a:p>
        </p:txBody>
      </p:sp>
      <p:sp>
        <p:nvSpPr>
          <p:cNvPr id="8" name="TextBox 7">
            <a:extLst>
              <a:ext uri="{FF2B5EF4-FFF2-40B4-BE49-F238E27FC236}">
                <a16:creationId xmlns:a16="http://schemas.microsoft.com/office/drawing/2014/main" id="{2DD21CB8-C958-4303-B74D-D5479FA6A216}"/>
              </a:ext>
            </a:extLst>
          </p:cNvPr>
          <p:cNvSpPr txBox="1"/>
          <p:nvPr/>
        </p:nvSpPr>
        <p:spPr>
          <a:xfrm>
            <a:off x="2209801" y="152401"/>
            <a:ext cx="3444469" cy="1015663"/>
          </a:xfrm>
          <a:prstGeom prst="rect">
            <a:avLst/>
          </a:prstGeom>
          <a:noFill/>
        </p:spPr>
        <p:txBody>
          <a:bodyPr wrap="none" rtlCol="0">
            <a:spAutoFit/>
          </a:bodyPr>
          <a:lstStyle/>
          <a:p>
            <a:r>
              <a:rPr lang="en-US" sz="2400" b="1" dirty="0" err="1">
                <a:solidFill>
                  <a:schemeClr val="bg1">
                    <a:lumMod val="50000"/>
                  </a:schemeClr>
                </a:solidFill>
              </a:rPr>
              <a:t>Clifts</a:t>
            </a:r>
            <a:r>
              <a:rPr lang="en-US" sz="2400" b="1" dirty="0">
                <a:solidFill>
                  <a:schemeClr val="bg1">
                    <a:lumMod val="50000"/>
                  </a:schemeClr>
                </a:solidFill>
              </a:rPr>
              <a:t> Plantation</a:t>
            </a:r>
          </a:p>
          <a:p>
            <a:r>
              <a:rPr lang="en-US" dirty="0"/>
              <a:t>Pit Distances vs. Pit Size (log scale)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descr="Clifts Plantation pits"/>
          <p:cNvPicPr>
            <a:picLocks noChangeAspect="1" noChangeArrowheads="1"/>
          </p:cNvPicPr>
          <p:nvPr/>
        </p:nvPicPr>
        <p:blipFill>
          <a:blip r:embed="rId2" cstate="print"/>
          <a:srcRect/>
          <a:stretch>
            <a:fillRect/>
          </a:stretch>
        </p:blipFill>
        <p:spPr bwMode="auto">
          <a:xfrm>
            <a:off x="2611439" y="0"/>
            <a:ext cx="6626225" cy="6858000"/>
          </a:xfrm>
          <a:prstGeom prst="rect">
            <a:avLst/>
          </a:prstGeom>
          <a:noFill/>
        </p:spPr>
      </p:pic>
    </p:spTree>
    <p:extLst>
      <p:ext uri="{BB962C8B-B14F-4D97-AF65-F5344CB8AC3E}">
        <p14:creationId xmlns:p14="http://schemas.microsoft.com/office/powerpoint/2010/main" val="3005265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728282" y="518280"/>
            <a:ext cx="5083432" cy="6555641"/>
          </a:xfrm>
          <a:prstGeom prst="rect">
            <a:avLst/>
          </a:prstGeom>
          <a:noFill/>
          <a:ln w="9525">
            <a:noFill/>
            <a:miter lim="800000"/>
            <a:headEnd/>
            <a:tailEnd/>
          </a:ln>
          <a:effectLst/>
        </p:spPr>
        <p:txBody>
          <a:bodyPr wrap="square">
            <a:spAutoFit/>
          </a:bodyPr>
          <a:lstStyle/>
          <a:p>
            <a:r>
              <a:rPr lang="en-US" sz="2400" b="1" dirty="0">
                <a:solidFill>
                  <a:schemeClr val="bg1">
                    <a:lumMod val="50000"/>
                  </a:schemeClr>
                </a:solidFill>
              </a:rPr>
              <a:t>Systemic context processes</a:t>
            </a:r>
          </a:p>
          <a:p>
            <a:r>
              <a:rPr lang="en-US" b="1" dirty="0">
                <a:solidFill>
                  <a:schemeClr val="bg1">
                    <a:lumMod val="50000"/>
                  </a:schemeClr>
                </a:solidFill>
              </a:rPr>
              <a:t>Spatial organization discard</a:t>
            </a:r>
          </a:p>
          <a:p>
            <a:endParaRPr lang="en-US" b="1" dirty="0">
              <a:solidFill>
                <a:schemeClr val="accent2"/>
              </a:solidFill>
            </a:endParaRPr>
          </a:p>
          <a:p>
            <a:pPr marL="285750" indent="-285750">
              <a:buFont typeface="Arial" panose="020B0604020202020204" pitchFamily="34" charset="0"/>
              <a:buChar char="•"/>
            </a:pPr>
            <a:r>
              <a:rPr lang="en-US" dirty="0"/>
              <a:t> </a:t>
            </a:r>
            <a:r>
              <a:rPr lang="en-US" b="1" i="1" dirty="0"/>
              <a:t>The Pompeii  Premise</a:t>
            </a:r>
            <a:r>
              <a:rPr lang="en-US" dirty="0"/>
              <a:t>: the </a:t>
            </a:r>
            <a:r>
              <a:rPr lang="en-US" i="1" dirty="0"/>
              <a:t>false</a:t>
            </a:r>
            <a:r>
              <a:rPr lang="en-US" dirty="0"/>
              <a:t> idea that the location of artifact discard is the location of use and breakage.</a:t>
            </a:r>
          </a:p>
          <a:p>
            <a:pPr marL="742950" lvl="1" indent="-285750">
              <a:buFont typeface="Arial" panose="020B0604020202020204" pitchFamily="34" charset="0"/>
              <a:buChar char="•"/>
            </a:pPr>
            <a:endParaRPr lang="en-US" b="1" dirty="0">
              <a:solidFill>
                <a:schemeClr val="accent2"/>
              </a:solidFill>
            </a:endParaRPr>
          </a:p>
          <a:p>
            <a:pPr marL="285750" indent="-285750">
              <a:buFont typeface="Arial" panose="020B0604020202020204" pitchFamily="34" charset="0"/>
              <a:buChar char="•"/>
            </a:pPr>
            <a:r>
              <a:rPr lang="en-US" dirty="0"/>
              <a:t> </a:t>
            </a:r>
            <a:r>
              <a:rPr lang="en-US" b="1" i="1" dirty="0"/>
              <a:t>Primary refuse </a:t>
            </a:r>
            <a:r>
              <a:rPr lang="en-US" dirty="0"/>
              <a:t>vs. </a:t>
            </a:r>
            <a:r>
              <a:rPr lang="en-US" b="1" i="1" dirty="0"/>
              <a:t>secondary refuse </a:t>
            </a:r>
            <a:r>
              <a:rPr lang="en-US" dirty="0"/>
              <a:t>(Mike Schiffer)</a:t>
            </a:r>
          </a:p>
          <a:p>
            <a:r>
              <a:rPr lang="en-US" dirty="0"/>
              <a:t>	</a:t>
            </a:r>
          </a:p>
          <a:p>
            <a:pPr marL="285750" indent="-285750">
              <a:buFont typeface="Arial" panose="020B0604020202020204" pitchFamily="34" charset="0"/>
              <a:buChar char="•"/>
            </a:pPr>
            <a:r>
              <a:rPr lang="en-US" dirty="0"/>
              <a:t> </a:t>
            </a:r>
            <a:r>
              <a:rPr lang="en-US" i="1" dirty="0"/>
              <a:t>Cleaning up </a:t>
            </a:r>
            <a:r>
              <a:rPr lang="en-US" dirty="0"/>
              <a:t>creates some patterns and destroys others</a:t>
            </a:r>
          </a:p>
          <a:p>
            <a:endParaRPr lang="en-US" dirty="0"/>
          </a:p>
          <a:p>
            <a:pPr marL="342900" indent="-342900">
              <a:buFont typeface="Arial" panose="020B0604020202020204" pitchFamily="34" charset="0"/>
              <a:buChar char="•"/>
            </a:pPr>
            <a:r>
              <a:rPr lang="en-US" dirty="0"/>
              <a:t>How far broken/failed  artifacts are transported effects spatial scale at which spatial patterns can be interpreted.</a:t>
            </a:r>
          </a:p>
          <a:p>
            <a:endParaRPr lang="en-US" dirty="0"/>
          </a:p>
          <a:p>
            <a:pPr marL="285750" indent="-285750">
              <a:buFont typeface="Arial" panose="020B0604020202020204" pitchFamily="34" charset="0"/>
              <a:buChar char="•"/>
            </a:pPr>
            <a:r>
              <a:rPr lang="en-US" b="1" i="1" dirty="0"/>
              <a:t> Secondary refuse nearly always has useful spatial pattern at some informative scale!!</a:t>
            </a:r>
          </a:p>
          <a:p>
            <a:endParaRPr lang="en-US" b="1" i="1" dirty="0"/>
          </a:p>
          <a:p>
            <a:endParaRPr lang="en-US" dirty="0"/>
          </a:p>
          <a:p>
            <a:endParaRPr lang="en-US" dirty="0"/>
          </a:p>
          <a:p>
            <a:endParaRPr lang="en-US" b="1" dirty="0">
              <a:solidFill>
                <a:schemeClr val="accent2"/>
              </a:solidFill>
            </a:endParaRPr>
          </a:p>
        </p:txBody>
      </p:sp>
      <p:grpSp>
        <p:nvGrpSpPr>
          <p:cNvPr id="2" name="Group 4"/>
          <p:cNvGrpSpPr/>
          <p:nvPr/>
        </p:nvGrpSpPr>
        <p:grpSpPr>
          <a:xfrm>
            <a:off x="6849814" y="381000"/>
            <a:ext cx="3505200" cy="4876800"/>
            <a:chOff x="4876800" y="1295400"/>
            <a:chExt cx="3505200" cy="4876800"/>
          </a:xfrm>
        </p:grpSpPr>
        <p:sp>
          <p:nvSpPr>
            <p:cNvPr id="6" name="Oval 2"/>
            <p:cNvSpPr>
              <a:spLocks noChangeArrowheads="1"/>
            </p:cNvSpPr>
            <p:nvPr/>
          </p:nvSpPr>
          <p:spPr bwMode="auto">
            <a:xfrm>
              <a:off x="4876800" y="2819400"/>
              <a:ext cx="1676400" cy="1600200"/>
            </a:xfrm>
            <a:prstGeom prst="ellipse">
              <a:avLst/>
            </a:prstGeom>
            <a:solidFill>
              <a:schemeClr val="accent1"/>
            </a:solidFill>
            <a:ln w="9525">
              <a:solidFill>
                <a:schemeClr val="tx1"/>
              </a:solidFill>
              <a:round/>
              <a:headEnd/>
              <a:tailEnd/>
            </a:ln>
            <a:effectLst/>
          </p:spPr>
          <p:txBody>
            <a:bodyPr wrap="none" anchor="ctr"/>
            <a:lstStyle/>
            <a:p>
              <a:pPr algn="ctr"/>
              <a:r>
                <a:rPr lang="en-US" dirty="0"/>
                <a:t>Location of use</a:t>
              </a:r>
            </a:p>
            <a:p>
              <a:pPr algn="ctr"/>
              <a:r>
                <a:rPr lang="en-US" dirty="0"/>
                <a:t>(and breakage)</a:t>
              </a:r>
            </a:p>
          </p:txBody>
        </p:sp>
        <p:sp>
          <p:nvSpPr>
            <p:cNvPr id="7" name="Oval 3"/>
            <p:cNvSpPr>
              <a:spLocks noChangeArrowheads="1"/>
            </p:cNvSpPr>
            <p:nvPr/>
          </p:nvSpPr>
          <p:spPr bwMode="auto">
            <a:xfrm>
              <a:off x="7543800" y="19812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8" name="Oval 4"/>
            <p:cNvSpPr>
              <a:spLocks noChangeArrowheads="1"/>
            </p:cNvSpPr>
            <p:nvPr/>
          </p:nvSpPr>
          <p:spPr bwMode="auto">
            <a:xfrm>
              <a:off x="7465980" y="37719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9" name="Oval 5"/>
            <p:cNvSpPr>
              <a:spLocks noChangeArrowheads="1"/>
            </p:cNvSpPr>
            <p:nvPr/>
          </p:nvSpPr>
          <p:spPr bwMode="auto">
            <a:xfrm>
              <a:off x="5943600" y="53340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0" name="Text Box 6"/>
            <p:cNvSpPr txBox="1">
              <a:spLocks noChangeArrowheads="1"/>
            </p:cNvSpPr>
            <p:nvPr/>
          </p:nvSpPr>
          <p:spPr bwMode="auto">
            <a:xfrm>
              <a:off x="6019800" y="4343400"/>
              <a:ext cx="1227387" cy="646331"/>
            </a:xfrm>
            <a:prstGeom prst="rect">
              <a:avLst/>
            </a:prstGeom>
            <a:noFill/>
            <a:ln w="9525">
              <a:noFill/>
              <a:miter lim="800000"/>
              <a:headEnd/>
              <a:tailEnd/>
            </a:ln>
            <a:effectLst/>
          </p:spPr>
          <p:txBody>
            <a:bodyPr wrap="none">
              <a:spAutoFit/>
            </a:bodyPr>
            <a:lstStyle/>
            <a:p>
              <a:r>
                <a:rPr lang="en-US" dirty="0"/>
                <a:t>Location of</a:t>
              </a:r>
            </a:p>
            <a:p>
              <a:r>
                <a:rPr lang="en-US" dirty="0"/>
                <a:t>deposition</a:t>
              </a:r>
            </a:p>
          </p:txBody>
        </p:sp>
        <p:sp>
          <p:nvSpPr>
            <p:cNvPr id="11" name="Line 7"/>
            <p:cNvSpPr>
              <a:spLocks noChangeShapeType="1"/>
            </p:cNvSpPr>
            <p:nvPr/>
          </p:nvSpPr>
          <p:spPr bwMode="auto">
            <a:xfrm flipV="1">
              <a:off x="6696784" y="2514600"/>
              <a:ext cx="1151816" cy="1790700"/>
            </a:xfrm>
            <a:prstGeom prst="line">
              <a:avLst/>
            </a:prstGeom>
            <a:noFill/>
            <a:ln w="9525">
              <a:solidFill>
                <a:schemeClr val="tx1"/>
              </a:solidFill>
              <a:round/>
              <a:headEnd/>
              <a:tailEnd type="triangle" w="med" len="med"/>
            </a:ln>
            <a:effectLst/>
          </p:spPr>
          <p:txBody>
            <a:bodyPr/>
            <a:lstStyle/>
            <a:p>
              <a:endParaRPr lang="en-US"/>
            </a:p>
          </p:txBody>
        </p:sp>
        <p:sp>
          <p:nvSpPr>
            <p:cNvPr id="12" name="Line 8"/>
            <p:cNvSpPr>
              <a:spLocks noChangeShapeType="1"/>
            </p:cNvSpPr>
            <p:nvPr/>
          </p:nvSpPr>
          <p:spPr bwMode="auto">
            <a:xfrm flipV="1">
              <a:off x="7247187" y="4495800"/>
              <a:ext cx="296614" cy="152400"/>
            </a:xfrm>
            <a:prstGeom prst="line">
              <a:avLst/>
            </a:prstGeom>
            <a:noFill/>
            <a:ln w="9525">
              <a:solidFill>
                <a:schemeClr val="tx1"/>
              </a:solidFill>
              <a:round/>
              <a:headEnd/>
              <a:tailEnd type="triangle" w="med" len="med"/>
            </a:ln>
            <a:effectLst/>
          </p:spPr>
          <p:txBody>
            <a:bodyPr/>
            <a:lstStyle/>
            <a:p>
              <a:endParaRPr lang="en-US"/>
            </a:p>
          </p:txBody>
        </p:sp>
        <p:sp>
          <p:nvSpPr>
            <p:cNvPr id="13" name="Line 9"/>
            <p:cNvSpPr>
              <a:spLocks noChangeShapeType="1"/>
            </p:cNvSpPr>
            <p:nvPr/>
          </p:nvSpPr>
          <p:spPr bwMode="auto">
            <a:xfrm flipH="1">
              <a:off x="6324600" y="4953000"/>
              <a:ext cx="76200" cy="609600"/>
            </a:xfrm>
            <a:prstGeom prst="line">
              <a:avLst/>
            </a:prstGeom>
            <a:noFill/>
            <a:ln w="9525">
              <a:solidFill>
                <a:schemeClr val="tx1"/>
              </a:solidFill>
              <a:round/>
              <a:headEnd/>
              <a:tailEnd type="triangle" w="med" len="med"/>
            </a:ln>
            <a:effectLst/>
          </p:spPr>
          <p:txBody>
            <a:bodyPr/>
            <a:lstStyle/>
            <a:p>
              <a:endParaRPr lang="en-US"/>
            </a:p>
          </p:txBody>
        </p:sp>
        <p:sp>
          <p:nvSpPr>
            <p:cNvPr id="14" name="Oval 14"/>
            <p:cNvSpPr>
              <a:spLocks noChangeArrowheads="1"/>
            </p:cNvSpPr>
            <p:nvPr/>
          </p:nvSpPr>
          <p:spPr bwMode="auto">
            <a:xfrm>
              <a:off x="5410200" y="1295400"/>
              <a:ext cx="838200" cy="838200"/>
            </a:xfrm>
            <a:prstGeom prst="ellipse">
              <a:avLst/>
            </a:prstGeom>
            <a:solidFill>
              <a:schemeClr val="accent1"/>
            </a:solidFill>
            <a:ln w="9525">
              <a:solidFill>
                <a:schemeClr val="tx1"/>
              </a:solidFill>
              <a:round/>
              <a:headEnd/>
              <a:tailEnd/>
            </a:ln>
            <a:effectLst/>
          </p:spPr>
          <p:txBody>
            <a:bodyPr wrap="none" anchor="ct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C1AF8-9DF5-921E-BA42-B38684E7A60B}"/>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38CA8BEC-B0D9-5B6F-95DE-481817CE07C9}"/>
              </a:ext>
            </a:extLst>
          </p:cNvPr>
          <p:cNvSpPr>
            <a:spLocks noChangeArrowheads="1"/>
          </p:cNvSpPr>
          <p:nvPr/>
        </p:nvSpPr>
        <p:spPr bwMode="auto">
          <a:xfrm>
            <a:off x="1905001" y="350251"/>
            <a:ext cx="8127281" cy="738664"/>
          </a:xfrm>
          <a:prstGeom prst="rect">
            <a:avLst/>
          </a:prstGeom>
          <a:noFill/>
          <a:ln w="9525">
            <a:noFill/>
            <a:miter lim="800000"/>
            <a:headEnd/>
            <a:tailEnd/>
          </a:ln>
          <a:effectLst/>
        </p:spPr>
        <p:txBody>
          <a:bodyPr wrap="square">
            <a:spAutoFit/>
          </a:bodyPr>
          <a:lstStyle/>
          <a:p>
            <a:r>
              <a:rPr lang="en-US" sz="2400" b="1" dirty="0">
                <a:solidFill>
                  <a:schemeClr val="bg1">
                    <a:lumMod val="50000"/>
                  </a:schemeClr>
                </a:solidFill>
              </a:rPr>
              <a:t>Systemic context processes</a:t>
            </a:r>
          </a:p>
          <a:p>
            <a:r>
              <a:rPr lang="en-US" b="1" dirty="0">
                <a:solidFill>
                  <a:schemeClr val="bg1">
                    <a:lumMod val="50000"/>
                  </a:schemeClr>
                </a:solidFill>
              </a:rPr>
              <a:t>Spatial Organization of Discard.</a:t>
            </a:r>
          </a:p>
        </p:txBody>
      </p:sp>
      <p:sp>
        <p:nvSpPr>
          <p:cNvPr id="19459" name="Text Box 3">
            <a:extLst>
              <a:ext uri="{FF2B5EF4-FFF2-40B4-BE49-F238E27FC236}">
                <a16:creationId xmlns:a16="http://schemas.microsoft.com/office/drawing/2014/main" id="{C755CB8A-B4E1-6B50-D7A5-254A0E2511B8}"/>
              </a:ext>
            </a:extLst>
          </p:cNvPr>
          <p:cNvSpPr txBox="1">
            <a:spLocks noChangeArrowheads="1"/>
          </p:cNvSpPr>
          <p:nvPr/>
        </p:nvSpPr>
        <p:spPr bwMode="auto">
          <a:xfrm>
            <a:off x="1869333" y="1219200"/>
            <a:ext cx="8162949" cy="5355312"/>
          </a:xfrm>
          <a:prstGeom prst="rect">
            <a:avLst/>
          </a:prstGeom>
          <a:noFill/>
          <a:ln w="9525">
            <a:noFill/>
            <a:miter lim="800000"/>
            <a:headEnd/>
            <a:tailEnd/>
          </a:ln>
          <a:effectLst/>
        </p:spPr>
        <p:txBody>
          <a:bodyPr wrap="square">
            <a:spAutoFit/>
          </a:bodyPr>
          <a:lstStyle/>
          <a:p>
            <a:r>
              <a:rPr lang="en-US" dirty="0"/>
              <a:t>The distance that artifacts will be transported from the location of use and breakage is a function of…</a:t>
            </a:r>
          </a:p>
          <a:p>
            <a:endParaRPr lang="en-US" dirty="0"/>
          </a:p>
          <a:p>
            <a:pPr marL="285750" indent="-285750">
              <a:buFont typeface="Arial" panose="020B0604020202020204" pitchFamily="34" charset="0"/>
              <a:buChar char="•"/>
            </a:pPr>
            <a:r>
              <a:rPr lang="en-US" dirty="0"/>
              <a:t>Benefits of cleaning up </a:t>
            </a:r>
          </a:p>
          <a:p>
            <a:pPr marL="742950" lvl="1" indent="-285750">
              <a:buFont typeface="Arial" panose="020B0604020202020204" pitchFamily="34" charset="0"/>
              <a:buChar char="•"/>
            </a:pPr>
            <a:r>
              <a:rPr lang="en-US" dirty="0"/>
              <a:t>Scale inversely with interference potential with other activities</a:t>
            </a:r>
          </a:p>
          <a:p>
            <a:pPr marL="1200150" lvl="2" indent="-285750">
              <a:buFont typeface="Arial" panose="020B0604020202020204" pitchFamily="34" charset="0"/>
              <a:buChar char="•"/>
            </a:pPr>
            <a:r>
              <a:rPr lang="en-US" dirty="0"/>
              <a:t>Amount of artifacts ~ occupation span,  number of occupants</a:t>
            </a:r>
          </a:p>
          <a:p>
            <a:pPr marL="1200150" lvl="2" indent="-285750">
              <a:buFont typeface="Arial" panose="020B0604020202020204" pitchFamily="34" charset="0"/>
              <a:buChar char="•"/>
            </a:pPr>
            <a:r>
              <a:rPr lang="en-US" dirty="0"/>
              <a:t>Artifact size: large artifacts are more likely to interfere.</a:t>
            </a:r>
          </a:p>
          <a:p>
            <a:pPr marL="1200150" lvl="2" indent="-285750">
              <a:buFont typeface="Arial" panose="020B0604020202020204" pitchFamily="34" charset="0"/>
              <a:buChar char="•"/>
            </a:pPr>
            <a:r>
              <a:rPr lang="en-US" dirty="0"/>
              <a:t>Hazard potential. </a:t>
            </a:r>
            <a:r>
              <a:rPr lang="en-US" i="1" dirty="0"/>
              <a:t>e.g. </a:t>
            </a:r>
            <a:r>
              <a:rPr lang="en-US" dirty="0"/>
              <a:t>glass, poop</a:t>
            </a:r>
          </a:p>
          <a:p>
            <a:pPr marL="1200150" lvl="2" indent="-285750">
              <a:buFont typeface="Arial" panose="020B0604020202020204" pitchFamily="34" charset="0"/>
              <a:buChar char="•"/>
            </a:pPr>
            <a:r>
              <a:rPr lang="en-US" dirty="0"/>
              <a:t>Importance of “other activities”</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i="1" dirty="0"/>
              <a:t> Higher interference potential means refuse is more likely to be moved </a:t>
            </a:r>
          </a:p>
          <a:p>
            <a:r>
              <a:rPr lang="en-US" i="1" dirty="0"/>
              <a:t>	farther away. </a:t>
            </a:r>
          </a:p>
          <a:p>
            <a:r>
              <a:rPr lang="en-US" dirty="0"/>
              <a:t>		</a:t>
            </a:r>
          </a:p>
          <a:p>
            <a:pPr marL="285750" indent="-285750">
              <a:buFont typeface="Arial" panose="020B0604020202020204" pitchFamily="34" charset="0"/>
              <a:buChar char="•"/>
            </a:pPr>
            <a:r>
              <a:rPr lang="en-US" dirty="0"/>
              <a:t>Costs of cleaning up and moving the refuse</a:t>
            </a:r>
          </a:p>
          <a:p>
            <a:pPr marL="742950" lvl="1" indent="-285750">
              <a:buFont typeface="Arial" panose="020B0604020202020204" pitchFamily="34" charset="0"/>
              <a:buChar char="•"/>
            </a:pPr>
            <a:r>
              <a:rPr lang="en-US" dirty="0"/>
              <a:t>Scale with distance moved</a:t>
            </a:r>
          </a:p>
          <a:p>
            <a:pPr marL="742950" lvl="1" indent="-285750">
              <a:buFont typeface="Arial" panose="020B0604020202020204" pitchFamily="34" charset="0"/>
              <a:buChar char="•"/>
            </a:pPr>
            <a:r>
              <a:rPr lang="en-US" dirty="0"/>
              <a:t>Artifact size: little bits are harder to pick up or sweep than big bits.</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i="1" dirty="0"/>
              <a:t> Easy cleanup means refuse is more likely to be moved farther away. </a:t>
            </a:r>
          </a:p>
          <a:p>
            <a:endParaRPr lang="en-US" dirty="0"/>
          </a:p>
        </p:txBody>
      </p:sp>
    </p:spTree>
    <p:extLst>
      <p:ext uri="{BB962C8B-B14F-4D97-AF65-F5344CB8AC3E}">
        <p14:creationId xmlns:p14="http://schemas.microsoft.com/office/powerpoint/2010/main" val="343078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33600"/>
            <a:ext cx="4393406"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663" y="2270546"/>
            <a:ext cx="4341064" cy="390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743891" y="83429"/>
            <a:ext cx="3677673" cy="1107996"/>
          </a:xfrm>
          <a:prstGeom prst="rect">
            <a:avLst/>
          </a:prstGeom>
          <a:solidFill>
            <a:schemeClr val="bg1"/>
          </a:solidFill>
        </p:spPr>
        <p:txBody>
          <a:bodyPr wrap="none" rtlCol="0">
            <a:spAutoFit/>
          </a:bodyPr>
          <a:lstStyle/>
          <a:p>
            <a:r>
              <a:rPr lang="en-US" sz="2400" b="1" dirty="0">
                <a:solidFill>
                  <a:schemeClr val="bg1">
                    <a:lumMod val="50000"/>
                  </a:schemeClr>
                </a:solidFill>
              </a:rPr>
              <a:t>Systemic Context Processes</a:t>
            </a:r>
          </a:p>
          <a:p>
            <a:r>
              <a:rPr lang="en-US" b="1" dirty="0"/>
              <a:t>Spatial organization discard</a:t>
            </a:r>
            <a:endParaRPr lang="en-US" sz="2000" b="1" dirty="0"/>
          </a:p>
          <a:p>
            <a:endParaRPr lang="en-US" sz="2400" b="1" dirty="0">
              <a:solidFill>
                <a:schemeClr val="tx2">
                  <a:lumMod val="75000"/>
                </a:schemeClr>
              </a:solidFill>
            </a:endParaRPr>
          </a:p>
        </p:txBody>
      </p:sp>
      <p:sp>
        <p:nvSpPr>
          <p:cNvPr id="5" name="TextBox 4"/>
          <p:cNvSpPr txBox="1"/>
          <p:nvPr/>
        </p:nvSpPr>
        <p:spPr>
          <a:xfrm>
            <a:off x="1828800" y="652814"/>
            <a:ext cx="8995726" cy="1569660"/>
          </a:xfrm>
          <a:prstGeom prst="rect">
            <a:avLst/>
          </a:prstGeom>
          <a:noFill/>
        </p:spPr>
        <p:txBody>
          <a:bodyPr wrap="square" rtlCol="0">
            <a:spAutoFit/>
          </a:bodyPr>
          <a:lstStyle/>
          <a:p>
            <a:endParaRPr lang="en-US" dirty="0"/>
          </a:p>
          <a:p>
            <a:r>
              <a:rPr lang="en-US" dirty="0"/>
              <a:t>- How to recognize cleaning up?</a:t>
            </a:r>
          </a:p>
          <a:p>
            <a:endParaRPr lang="en-US" dirty="0"/>
          </a:p>
          <a:p>
            <a:r>
              <a:rPr lang="en-US" dirty="0"/>
              <a:t>- </a:t>
            </a:r>
            <a:r>
              <a:rPr lang="en-US" dirty="0" err="1"/>
              <a:t>Ethnoarchaeological</a:t>
            </a:r>
            <a:r>
              <a:rPr lang="en-US" dirty="0"/>
              <a:t> evidence:  </a:t>
            </a:r>
            <a:r>
              <a:rPr lang="en-US" dirty="0" err="1"/>
              <a:t>Alyawara</a:t>
            </a:r>
            <a:r>
              <a:rPr lang="en-US" dirty="0"/>
              <a:t> men’s camp  (O’Connell 1987)</a:t>
            </a:r>
          </a:p>
          <a:p>
            <a:endParaRPr lang="en-US" sz="2400" dirty="0"/>
          </a:p>
        </p:txBody>
      </p:sp>
    </p:spTree>
    <p:extLst>
      <p:ext uri="{BB962C8B-B14F-4D97-AF65-F5344CB8AC3E}">
        <p14:creationId xmlns:p14="http://schemas.microsoft.com/office/powerpoint/2010/main" val="882855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057400" y="-76200"/>
            <a:ext cx="7924800" cy="6858000"/>
            <a:chOff x="533400" y="-76200"/>
            <a:chExt cx="7924800" cy="6858000"/>
          </a:xfrm>
        </p:grpSpPr>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316" y="-76200"/>
              <a:ext cx="781588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33400" y="4191000"/>
              <a:ext cx="2031325" cy="369332"/>
            </a:xfrm>
            <a:prstGeom prst="rect">
              <a:avLst/>
            </a:prstGeom>
            <a:solidFill>
              <a:schemeClr val="bg1"/>
            </a:solidFill>
          </p:spPr>
          <p:txBody>
            <a:bodyPr wrap="none" rtlCol="0">
              <a:spAutoFit/>
            </a:bodyPr>
            <a:lstStyle/>
            <a:p>
              <a:r>
                <a:rPr lang="en-US" dirty="0">
                  <a:latin typeface="Garamond" pitchFamily="18" charset="0"/>
                </a:rPr>
                <a:t>0       25      50	</a:t>
              </a:r>
            </a:p>
          </p:txBody>
        </p:sp>
        <p:sp>
          <p:nvSpPr>
            <p:cNvPr id="8" name="TextBox 7"/>
            <p:cNvSpPr txBox="1"/>
            <p:nvPr/>
          </p:nvSpPr>
          <p:spPr>
            <a:xfrm>
              <a:off x="533400" y="4800600"/>
              <a:ext cx="1107996" cy="369332"/>
            </a:xfrm>
            <a:prstGeom prst="rect">
              <a:avLst/>
            </a:prstGeom>
            <a:solidFill>
              <a:schemeClr val="bg1"/>
            </a:solidFill>
          </p:spPr>
          <p:txBody>
            <a:bodyPr wrap="none" rtlCol="0">
              <a:spAutoFit/>
            </a:bodyPr>
            <a:lstStyle/>
            <a:p>
              <a:r>
                <a:rPr lang="en-US" dirty="0">
                  <a:latin typeface="Garamond" pitchFamily="18" charset="0"/>
                </a:rPr>
                <a:t>Feet	</a:t>
              </a:r>
            </a:p>
          </p:txBody>
        </p:sp>
      </p:grpSp>
      <p:sp>
        <p:nvSpPr>
          <p:cNvPr id="2" name="TextBox 1"/>
          <p:cNvSpPr txBox="1"/>
          <p:nvPr/>
        </p:nvSpPr>
        <p:spPr>
          <a:xfrm>
            <a:off x="1828801" y="605246"/>
            <a:ext cx="2884379" cy="2000548"/>
          </a:xfrm>
          <a:prstGeom prst="rect">
            <a:avLst/>
          </a:prstGeom>
          <a:noFill/>
        </p:spPr>
        <p:txBody>
          <a:bodyPr wrap="none" rtlCol="0">
            <a:spAutoFit/>
          </a:bodyPr>
          <a:lstStyle/>
          <a:p>
            <a:r>
              <a:rPr lang="en-US" sz="2400" b="1" dirty="0">
                <a:solidFill>
                  <a:schemeClr val="bg1">
                    <a:lumMod val="50000"/>
                  </a:schemeClr>
                </a:solidFill>
              </a:rPr>
              <a:t>Site 8 Example</a:t>
            </a:r>
          </a:p>
          <a:p>
            <a:endParaRPr lang="en-US" sz="2000" dirty="0"/>
          </a:p>
          <a:p>
            <a:r>
              <a:rPr lang="en-US" sz="2000" dirty="0"/>
              <a:t>-c. 1770-1800</a:t>
            </a:r>
          </a:p>
          <a:p>
            <a:r>
              <a:rPr lang="en-US" sz="2000" dirty="0"/>
              <a:t>-heavily plowed</a:t>
            </a:r>
          </a:p>
          <a:p>
            <a:r>
              <a:rPr lang="en-US" sz="2000" dirty="0"/>
              <a:t>-stratified random sample</a:t>
            </a:r>
          </a:p>
          <a:p>
            <a:r>
              <a:rPr lang="en-US" sz="2000" dirty="0"/>
              <a:t>-266 5-foot quadrats</a:t>
            </a:r>
          </a:p>
        </p:txBody>
      </p:sp>
    </p:spTree>
    <p:extLst>
      <p:ext uri="{BB962C8B-B14F-4D97-AF65-F5344CB8AC3E}">
        <p14:creationId xmlns:p14="http://schemas.microsoft.com/office/powerpoint/2010/main" val="2869060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4588" y="3610868"/>
            <a:ext cx="2826327" cy="3657600"/>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2866" y="-155268"/>
            <a:ext cx="2826327" cy="3657600"/>
          </a:xfrm>
          <a:prstGeom prst="rect">
            <a:avLst/>
          </a:prstGeom>
        </p:spPr>
      </p:pic>
      <p:sp>
        <p:nvSpPr>
          <p:cNvPr id="4" name="Slide Number Placeholder 3"/>
          <p:cNvSpPr>
            <a:spLocks noGrp="1"/>
          </p:cNvSpPr>
          <p:nvPr>
            <p:ph type="sldNum" sz="quarter" idx="12"/>
          </p:nvPr>
        </p:nvSpPr>
        <p:spPr>
          <a:xfrm>
            <a:off x="8303703" y="6245225"/>
            <a:ext cx="2133600" cy="476250"/>
          </a:xfrm>
        </p:spPr>
        <p:txBody>
          <a:bodyPr/>
          <a:lstStyle/>
          <a:p>
            <a:pPr>
              <a:defRPr/>
            </a:pPr>
            <a:fld id="{5C59D084-2D9E-41A9-8D0E-EE244E84C477}" type="slidenum">
              <a:rPr lang="en-US" smtClean="0"/>
              <a:pPr>
                <a:defRPr/>
              </a:pPr>
              <a:t>24</a:t>
            </a:fld>
            <a:endParaRPr lang="en-US"/>
          </a:p>
        </p:txBody>
      </p:sp>
      <p:pic>
        <p:nvPicPr>
          <p:cNvPr id="1026" name="Picture 2" descr="C:\Documents and Settings\fneiman\Desktop\sha13ArcGIS\DelftSite8.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15" y="138554"/>
            <a:ext cx="2826327" cy="3657600"/>
          </a:xfrm>
          <a:prstGeom prst="rect">
            <a:avLst/>
          </a:prstGeom>
          <a:noFill/>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67485" y="138554"/>
            <a:ext cx="2826328" cy="3657600"/>
          </a:xfrm>
          <a:prstGeom prst="rect">
            <a:avLst/>
          </a:prstGeom>
          <a:noFill/>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6707" y="141012"/>
            <a:ext cx="2826327" cy="3657600"/>
          </a:xfrm>
          <a:prstGeom prst="rect">
            <a:avLst/>
          </a:prstGeom>
          <a:noFill/>
        </p:spPr>
      </p:pic>
      <p:sp>
        <p:nvSpPr>
          <p:cNvPr id="8" name="TextBox 7"/>
          <p:cNvSpPr txBox="1"/>
          <p:nvPr/>
        </p:nvSpPr>
        <p:spPr>
          <a:xfrm>
            <a:off x="124464" y="3349524"/>
            <a:ext cx="1476686" cy="307777"/>
          </a:xfrm>
          <a:prstGeom prst="rect">
            <a:avLst/>
          </a:prstGeom>
          <a:noFill/>
        </p:spPr>
        <p:txBody>
          <a:bodyPr wrap="none" rtlCol="0">
            <a:spAutoFit/>
          </a:bodyPr>
          <a:lstStyle/>
          <a:p>
            <a:r>
              <a:rPr lang="en-US" sz="1400" dirty="0">
                <a:latin typeface="Calibri" pitchFamily="34" charset="0"/>
                <a:cs typeface="Calibri" pitchFamily="34" charset="0"/>
              </a:rPr>
              <a:t>Delft (1600-1802)</a:t>
            </a:r>
          </a:p>
        </p:txBody>
      </p:sp>
      <p:sp>
        <p:nvSpPr>
          <p:cNvPr id="10" name="TextBox 9"/>
          <p:cNvSpPr txBox="1"/>
          <p:nvPr/>
        </p:nvSpPr>
        <p:spPr>
          <a:xfrm>
            <a:off x="2936878" y="3348443"/>
            <a:ext cx="1956048" cy="307777"/>
          </a:xfrm>
          <a:prstGeom prst="rect">
            <a:avLst/>
          </a:prstGeom>
          <a:noFill/>
        </p:spPr>
        <p:txBody>
          <a:bodyPr wrap="none" rtlCol="0">
            <a:spAutoFit/>
          </a:bodyPr>
          <a:lstStyle/>
          <a:p>
            <a:r>
              <a:rPr lang="en-US" sz="1400" dirty="0" err="1">
                <a:latin typeface="Calibri" pitchFamily="34" charset="0"/>
                <a:cs typeface="Calibri" pitchFamily="34" charset="0"/>
              </a:rPr>
              <a:t>Creamware</a:t>
            </a:r>
            <a:r>
              <a:rPr lang="en-US" sz="1400" dirty="0">
                <a:latin typeface="Calibri" pitchFamily="34" charset="0"/>
                <a:cs typeface="Calibri" pitchFamily="34" charset="0"/>
              </a:rPr>
              <a:t> (1762-1820)</a:t>
            </a:r>
          </a:p>
        </p:txBody>
      </p:sp>
      <p:sp>
        <p:nvSpPr>
          <p:cNvPr id="15" name="TextBox 14"/>
          <p:cNvSpPr txBox="1"/>
          <p:nvPr/>
        </p:nvSpPr>
        <p:spPr>
          <a:xfrm>
            <a:off x="673764" y="5217160"/>
            <a:ext cx="866456" cy="307777"/>
          </a:xfrm>
          <a:prstGeom prst="rect">
            <a:avLst/>
          </a:prstGeom>
          <a:noFill/>
        </p:spPr>
        <p:txBody>
          <a:bodyPr wrap="none" rtlCol="0">
            <a:spAutoFit/>
          </a:bodyPr>
          <a:lstStyle/>
          <a:p>
            <a:r>
              <a:rPr lang="en-US" sz="1400" dirty="0" err="1">
                <a:latin typeface="Calibri" pitchFamily="34" charset="0"/>
                <a:cs typeface="Calibri" pitchFamily="34" charset="0"/>
              </a:rPr>
              <a:t>Redware</a:t>
            </a:r>
            <a:r>
              <a:rPr lang="en-US" sz="1400" dirty="0">
                <a:latin typeface="Calibri" pitchFamily="34" charset="0"/>
                <a:cs typeface="Calibri" pitchFamily="34" charset="0"/>
              </a:rPr>
              <a:t> </a:t>
            </a:r>
          </a:p>
        </p:txBody>
      </p:sp>
      <p:pic>
        <p:nvPicPr>
          <p:cNvPr id="14" name="Pictur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96000" y="3610868"/>
            <a:ext cx="2826327" cy="3657600"/>
          </a:xfrm>
          <a:prstGeom prst="rect">
            <a:avLst/>
          </a:prstGeom>
        </p:spPr>
      </p:pic>
      <p:sp>
        <p:nvSpPr>
          <p:cNvPr id="17" name="TextBox 16"/>
          <p:cNvSpPr txBox="1"/>
          <p:nvPr/>
        </p:nvSpPr>
        <p:spPr>
          <a:xfrm>
            <a:off x="4788360" y="5146360"/>
            <a:ext cx="1475276" cy="307777"/>
          </a:xfrm>
          <a:prstGeom prst="rect">
            <a:avLst/>
          </a:prstGeom>
          <a:noFill/>
        </p:spPr>
        <p:txBody>
          <a:bodyPr wrap="none" rtlCol="0">
            <a:spAutoFit/>
          </a:bodyPr>
          <a:lstStyle/>
          <a:p>
            <a:r>
              <a:rPr lang="en-US" sz="1400" dirty="0">
                <a:latin typeface="Calibri" pitchFamily="34" charset="0"/>
                <a:cs typeface="Calibri" pitchFamily="34" charset="0"/>
              </a:rPr>
              <a:t>Chinese Porcelain</a:t>
            </a:r>
          </a:p>
        </p:txBody>
      </p:sp>
      <p:sp>
        <p:nvSpPr>
          <p:cNvPr id="18" name="TextBox 17"/>
          <p:cNvSpPr txBox="1"/>
          <p:nvPr/>
        </p:nvSpPr>
        <p:spPr>
          <a:xfrm>
            <a:off x="8610600" y="3194554"/>
            <a:ext cx="2947730" cy="307777"/>
          </a:xfrm>
          <a:prstGeom prst="rect">
            <a:avLst/>
          </a:prstGeom>
          <a:noFill/>
        </p:spPr>
        <p:txBody>
          <a:bodyPr wrap="none" rtlCol="0">
            <a:spAutoFit/>
          </a:bodyPr>
          <a:lstStyle/>
          <a:p>
            <a:r>
              <a:rPr lang="en-US" sz="1400" dirty="0">
                <a:latin typeface="Calibri" pitchFamily="34" charset="0"/>
                <a:cs typeface="Calibri" pitchFamily="34" charset="0"/>
              </a:rPr>
              <a:t>Correspondence-Analysis Chronology</a:t>
            </a:r>
          </a:p>
        </p:txBody>
      </p:sp>
      <p:sp>
        <p:nvSpPr>
          <p:cNvPr id="19" name="TextBox 18"/>
          <p:cNvSpPr txBox="1"/>
          <p:nvPr/>
        </p:nvSpPr>
        <p:spPr>
          <a:xfrm>
            <a:off x="161766" y="46850"/>
            <a:ext cx="2756909" cy="461665"/>
          </a:xfrm>
          <a:prstGeom prst="rect">
            <a:avLst/>
          </a:prstGeom>
          <a:noFill/>
        </p:spPr>
        <p:txBody>
          <a:bodyPr wrap="none" rtlCol="0">
            <a:spAutoFit/>
          </a:bodyPr>
          <a:lstStyle/>
          <a:p>
            <a:r>
              <a:rPr lang="en-US" sz="2400" b="1" dirty="0">
                <a:solidFill>
                  <a:schemeClr val="bg1">
                    <a:lumMod val="50000"/>
                  </a:schemeClr>
                </a:solidFill>
                <a:latin typeface="Calibri" pitchFamily="34" charset="0"/>
                <a:cs typeface="Calibri" pitchFamily="34" charset="0"/>
              </a:rPr>
              <a:t>Site 8 </a:t>
            </a:r>
            <a:r>
              <a:rPr lang="en-US" sz="2400" i="1" dirty="0">
                <a:solidFill>
                  <a:schemeClr val="bg1">
                    <a:lumMod val="50000"/>
                  </a:schemeClr>
                </a:solidFill>
                <a:latin typeface="Calibri" pitchFamily="34" charset="0"/>
                <a:cs typeface="Calibri" pitchFamily="34" charset="0"/>
              </a:rPr>
              <a:t>(c. 1770-1800)</a:t>
            </a:r>
          </a:p>
        </p:txBody>
      </p:sp>
      <p:sp>
        <p:nvSpPr>
          <p:cNvPr id="11" name="TextBox 10"/>
          <p:cNvSpPr txBox="1"/>
          <p:nvPr/>
        </p:nvSpPr>
        <p:spPr>
          <a:xfrm>
            <a:off x="5703645" y="3303092"/>
            <a:ext cx="1851854" cy="307777"/>
          </a:xfrm>
          <a:prstGeom prst="rect">
            <a:avLst/>
          </a:prstGeom>
          <a:noFill/>
        </p:spPr>
        <p:txBody>
          <a:bodyPr wrap="none" rtlCol="0">
            <a:spAutoFit/>
          </a:bodyPr>
          <a:lstStyle/>
          <a:p>
            <a:r>
              <a:rPr lang="en-US" sz="1400" dirty="0" err="1">
                <a:latin typeface="Calibri" pitchFamily="34" charset="0"/>
                <a:cs typeface="Calibri" pitchFamily="34" charset="0"/>
              </a:rPr>
              <a:t>Pearlware</a:t>
            </a:r>
            <a:r>
              <a:rPr lang="en-US" sz="1400" dirty="0">
                <a:latin typeface="Calibri" pitchFamily="34" charset="0"/>
                <a:cs typeface="Calibri" pitchFamily="34" charset="0"/>
              </a:rPr>
              <a:t> (1775-1830)</a:t>
            </a:r>
          </a:p>
        </p:txBody>
      </p:sp>
      <p:sp>
        <p:nvSpPr>
          <p:cNvPr id="2" name="TextBox 1">
            <a:extLst>
              <a:ext uri="{FF2B5EF4-FFF2-40B4-BE49-F238E27FC236}">
                <a16:creationId xmlns:a16="http://schemas.microsoft.com/office/drawing/2014/main" id="{F6DF9122-7C7C-E5E5-B4AF-79B7270A463C}"/>
              </a:ext>
            </a:extLst>
          </p:cNvPr>
          <p:cNvSpPr txBox="1"/>
          <p:nvPr/>
        </p:nvSpPr>
        <p:spPr>
          <a:xfrm>
            <a:off x="9314682" y="4319780"/>
            <a:ext cx="2496318" cy="1200329"/>
          </a:xfrm>
          <a:prstGeom prst="rect">
            <a:avLst/>
          </a:prstGeom>
          <a:noFill/>
        </p:spPr>
        <p:txBody>
          <a:bodyPr wrap="square" rtlCol="0">
            <a:spAutoFit/>
          </a:bodyPr>
          <a:lstStyle/>
          <a:p>
            <a:r>
              <a:rPr lang="en-US" i="1" dirty="0"/>
              <a:t>Artifact density surfaces interpolated from counts in scattered quads, using Kriging.</a:t>
            </a:r>
          </a:p>
        </p:txBody>
      </p:sp>
    </p:spTree>
    <p:extLst>
      <p:ext uri="{BB962C8B-B14F-4D97-AF65-F5344CB8AC3E}">
        <p14:creationId xmlns:p14="http://schemas.microsoft.com/office/powerpoint/2010/main" val="3754808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FEB2F6-3CF2-07B5-2706-1AED14749E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0" y="-533400"/>
            <a:ext cx="6303818" cy="8157883"/>
          </a:xfrm>
          <a:prstGeom prst="rect">
            <a:avLst/>
          </a:prstGeom>
        </p:spPr>
      </p:pic>
      <p:sp>
        <p:nvSpPr>
          <p:cNvPr id="7" name="TextBox 6">
            <a:extLst>
              <a:ext uri="{FF2B5EF4-FFF2-40B4-BE49-F238E27FC236}">
                <a16:creationId xmlns:a16="http://schemas.microsoft.com/office/drawing/2014/main" id="{E1D9FFFE-2252-067F-41DB-6D107CC8AE7A}"/>
              </a:ext>
            </a:extLst>
          </p:cNvPr>
          <p:cNvSpPr txBox="1"/>
          <p:nvPr/>
        </p:nvSpPr>
        <p:spPr>
          <a:xfrm>
            <a:off x="439189" y="304800"/>
            <a:ext cx="6096000" cy="738664"/>
          </a:xfrm>
          <a:prstGeom prst="rect">
            <a:avLst/>
          </a:prstGeom>
          <a:noFill/>
        </p:spPr>
        <p:txBody>
          <a:bodyPr wrap="square">
            <a:spAutoFit/>
          </a:bodyPr>
          <a:lstStyle/>
          <a:p>
            <a:r>
              <a:rPr lang="en-US" sz="2400" b="1" dirty="0">
                <a:solidFill>
                  <a:schemeClr val="bg1">
                    <a:lumMod val="50000"/>
                  </a:schemeClr>
                </a:solidFill>
              </a:rPr>
              <a:t>Site 8</a:t>
            </a:r>
          </a:p>
          <a:p>
            <a:r>
              <a:rPr lang="en-US" sz="1800" b="1" dirty="0"/>
              <a:t>Correspondence Analysis Chronology</a:t>
            </a:r>
          </a:p>
        </p:txBody>
      </p:sp>
    </p:spTree>
    <p:extLst>
      <p:ext uri="{BB962C8B-B14F-4D97-AF65-F5344CB8AC3E}">
        <p14:creationId xmlns:p14="http://schemas.microsoft.com/office/powerpoint/2010/main" val="4288802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010399" y="2457199"/>
            <a:ext cx="4608809" cy="1143000"/>
          </a:xfrm>
        </p:spPr>
        <p:txBody>
          <a:bodyPr/>
          <a:lstStyle/>
          <a:p>
            <a:pPr algn="l" eaLnBrk="1" hangingPunct="1"/>
            <a:r>
              <a:rPr lang="en-US" sz="1400" dirty="0">
                <a:latin typeface="Calibri" pitchFamily="34" charset="0"/>
              </a:rPr>
              <a:t>Partially excavated sub-floor pits under Structures 3 and 4</a:t>
            </a:r>
          </a:p>
        </p:txBody>
      </p:sp>
      <p:pic>
        <p:nvPicPr>
          <p:cNvPr id="10243" name="Picture 4"/>
          <p:cNvPicPr>
            <a:picLocks noChangeAspect="1" noChangeArrowheads="1"/>
          </p:cNvPicPr>
          <p:nvPr/>
        </p:nvPicPr>
        <p:blipFill>
          <a:blip r:embed="rId2" cstate="print"/>
          <a:srcRect/>
          <a:stretch>
            <a:fillRect/>
          </a:stretch>
        </p:blipFill>
        <p:spPr bwMode="auto">
          <a:xfrm>
            <a:off x="7010399" y="7883"/>
            <a:ext cx="4292053" cy="2853572"/>
          </a:xfrm>
          <a:prstGeom prst="rect">
            <a:avLst/>
          </a:prstGeom>
          <a:noFill/>
          <a:ln w="9525">
            <a:noFill/>
            <a:miter lim="800000"/>
            <a:headEnd/>
            <a:tailEnd/>
          </a:ln>
        </p:spPr>
      </p:pic>
      <p:sp>
        <p:nvSpPr>
          <p:cNvPr id="10244" name="Rectangle 6"/>
          <p:cNvSpPr>
            <a:spLocks noChangeArrowheads="1"/>
          </p:cNvSpPr>
          <p:nvPr/>
        </p:nvSpPr>
        <p:spPr bwMode="auto">
          <a:xfrm>
            <a:off x="7010399" y="6014072"/>
            <a:ext cx="4847612" cy="1143000"/>
          </a:xfrm>
          <a:prstGeom prst="rect">
            <a:avLst/>
          </a:prstGeom>
          <a:noFill/>
          <a:ln w="9525">
            <a:noFill/>
            <a:miter lim="800000"/>
            <a:headEnd/>
            <a:tailEnd/>
          </a:ln>
        </p:spPr>
        <p:txBody>
          <a:bodyPr anchor="ctr"/>
          <a:lstStyle/>
          <a:p>
            <a:r>
              <a:rPr lang="en-US" sz="1400" dirty="0">
                <a:solidFill>
                  <a:schemeClr val="tx2"/>
                </a:solidFill>
                <a:latin typeface="Calibri" pitchFamily="34" charset="0"/>
              </a:rPr>
              <a:t>Partially-excavated , brick-lined sub-floor pit under Structure 2</a:t>
            </a:r>
          </a:p>
        </p:txBody>
      </p:sp>
      <p:pic>
        <p:nvPicPr>
          <p:cNvPr id="10245" name="Picture 7"/>
          <p:cNvPicPr>
            <a:picLocks noChangeAspect="1" noChangeArrowheads="1"/>
          </p:cNvPicPr>
          <p:nvPr/>
        </p:nvPicPr>
        <p:blipFill>
          <a:blip r:embed="rId3" cstate="print"/>
          <a:srcRect/>
          <a:stretch>
            <a:fillRect/>
          </a:stretch>
        </p:blipFill>
        <p:spPr bwMode="auto">
          <a:xfrm>
            <a:off x="7010399" y="3229798"/>
            <a:ext cx="4292053" cy="3219870"/>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876410" y="935792"/>
            <a:ext cx="4453093" cy="4373889"/>
          </a:xfrm>
          <a:prstGeom prst="rect">
            <a:avLst/>
          </a:prstGeom>
          <a:noFill/>
          <a:ln w="9525">
            <a:solidFill>
              <a:schemeClr val="tx1"/>
            </a:solidFill>
            <a:miter lim="800000"/>
            <a:headEnd/>
            <a:tailEnd/>
          </a:ln>
        </p:spPr>
      </p:pic>
      <p:sp>
        <p:nvSpPr>
          <p:cNvPr id="9" name="Slide Number Placeholder 8"/>
          <p:cNvSpPr>
            <a:spLocks noGrp="1"/>
          </p:cNvSpPr>
          <p:nvPr>
            <p:ph type="sldNum" sz="quarter" idx="12"/>
          </p:nvPr>
        </p:nvSpPr>
        <p:spPr/>
        <p:txBody>
          <a:bodyPr/>
          <a:lstStyle/>
          <a:p>
            <a:pPr>
              <a:defRPr/>
            </a:pPr>
            <a:fld id="{5C59D084-2D9E-41A9-8D0E-EE244E84C477}" type="slidenum">
              <a:rPr lang="en-US" smtClean="0"/>
              <a:pPr>
                <a:defRPr/>
              </a:pPr>
              <a:t>26</a:t>
            </a:fld>
            <a:endParaRPr lang="en-US"/>
          </a:p>
        </p:txBody>
      </p:sp>
      <p:sp>
        <p:nvSpPr>
          <p:cNvPr id="4" name="TextBox 3"/>
          <p:cNvSpPr txBox="1"/>
          <p:nvPr/>
        </p:nvSpPr>
        <p:spPr>
          <a:xfrm>
            <a:off x="26276" y="23649"/>
            <a:ext cx="2756909" cy="738664"/>
          </a:xfrm>
          <a:prstGeom prst="rect">
            <a:avLst/>
          </a:prstGeom>
          <a:noFill/>
        </p:spPr>
        <p:txBody>
          <a:bodyPr wrap="none" rtlCol="0">
            <a:spAutoFit/>
          </a:bodyPr>
          <a:lstStyle/>
          <a:p>
            <a:r>
              <a:rPr lang="en-US" sz="2400" b="1" dirty="0">
                <a:solidFill>
                  <a:schemeClr val="bg1">
                    <a:lumMod val="50000"/>
                  </a:schemeClr>
                </a:solidFill>
                <a:latin typeface="Calibri" pitchFamily="34" charset="0"/>
                <a:cs typeface="Calibri" pitchFamily="34" charset="0"/>
              </a:rPr>
              <a:t>Site 8 </a:t>
            </a:r>
            <a:r>
              <a:rPr lang="en-US" sz="2400" i="1" dirty="0">
                <a:solidFill>
                  <a:schemeClr val="bg1">
                    <a:lumMod val="50000"/>
                  </a:schemeClr>
                </a:solidFill>
                <a:latin typeface="Calibri" pitchFamily="34" charset="0"/>
                <a:cs typeface="Calibri" pitchFamily="34" charset="0"/>
              </a:rPr>
              <a:t>(c. 1770-1800)</a:t>
            </a:r>
          </a:p>
          <a:p>
            <a:r>
              <a:rPr lang="en-US" b="1" dirty="0">
                <a:latin typeface="Calibri" pitchFamily="34" charset="0"/>
                <a:cs typeface="Calibri" pitchFamily="34" charset="0"/>
              </a:rPr>
              <a:t>Subfloor pit evidence</a:t>
            </a:r>
          </a:p>
        </p:txBody>
      </p:sp>
      <p:sp>
        <p:nvSpPr>
          <p:cNvPr id="2" name="TextBox 1">
            <a:extLst>
              <a:ext uri="{FF2B5EF4-FFF2-40B4-BE49-F238E27FC236}">
                <a16:creationId xmlns:a16="http://schemas.microsoft.com/office/drawing/2014/main" id="{0F2BF030-D269-7B1A-DDCB-BCF28FB20061}"/>
              </a:ext>
            </a:extLst>
          </p:cNvPr>
          <p:cNvSpPr txBox="1"/>
          <p:nvPr/>
        </p:nvSpPr>
        <p:spPr>
          <a:xfrm>
            <a:off x="728508" y="5333329"/>
            <a:ext cx="445309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Pits get larger over time:  House 1 pits &lt; House 3 and 4 pits &lt; House 2 pits.</a:t>
            </a:r>
          </a:p>
          <a:p>
            <a:endParaRPr lang="en-US" dirty="0"/>
          </a:p>
          <a:p>
            <a:pPr marL="285750" indent="-285750">
              <a:buFont typeface="Arial" panose="020B0604020202020204" pitchFamily="34" charset="0"/>
              <a:buChar char="•"/>
            </a:pPr>
            <a:r>
              <a:rPr lang="en-US" dirty="0"/>
              <a:t>House 2 has a brick-lined pit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B98F2-1BB5-C3FD-95A1-C602D20630B8}"/>
            </a:ext>
          </a:extLst>
        </p:cNvPr>
        <p:cNvGrpSpPr/>
        <p:nvPr/>
      </p:nvGrpSpPr>
      <p:grpSpPr>
        <a:xfrm>
          <a:off x="0" y="0"/>
          <a:ext cx="0" cy="0"/>
          <a:chOff x="0" y="0"/>
          <a:chExt cx="0" cy="0"/>
        </a:xfrm>
      </p:grpSpPr>
      <p:pic>
        <p:nvPicPr>
          <p:cNvPr id="13314" name="Picture 2">
            <a:extLst>
              <a:ext uri="{FF2B5EF4-FFF2-40B4-BE49-F238E27FC236}">
                <a16:creationId xmlns:a16="http://schemas.microsoft.com/office/drawing/2014/main" id="{2A739873-52B1-9ADC-93C9-1B8E41FB8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33600"/>
            <a:ext cx="4393406"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a:extLst>
              <a:ext uri="{FF2B5EF4-FFF2-40B4-BE49-F238E27FC236}">
                <a16:creationId xmlns:a16="http://schemas.microsoft.com/office/drawing/2014/main" id="{9F4518D6-8AE3-87C2-F009-F71688032C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663" y="2270546"/>
            <a:ext cx="4341064" cy="390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00407658-2466-E42C-9131-6F0614446A50}"/>
              </a:ext>
            </a:extLst>
          </p:cNvPr>
          <p:cNvSpPr txBox="1"/>
          <p:nvPr/>
        </p:nvSpPr>
        <p:spPr>
          <a:xfrm>
            <a:off x="1743891" y="83429"/>
            <a:ext cx="3677673" cy="1107996"/>
          </a:xfrm>
          <a:prstGeom prst="rect">
            <a:avLst/>
          </a:prstGeom>
          <a:solidFill>
            <a:schemeClr val="bg1"/>
          </a:solidFill>
        </p:spPr>
        <p:txBody>
          <a:bodyPr wrap="none" rtlCol="0">
            <a:spAutoFit/>
          </a:bodyPr>
          <a:lstStyle/>
          <a:p>
            <a:r>
              <a:rPr lang="en-US" sz="2400" b="1" dirty="0">
                <a:solidFill>
                  <a:schemeClr val="bg1">
                    <a:lumMod val="50000"/>
                  </a:schemeClr>
                </a:solidFill>
              </a:rPr>
              <a:t>Systemic Context Processes</a:t>
            </a:r>
          </a:p>
          <a:p>
            <a:r>
              <a:rPr lang="en-US" b="1" dirty="0"/>
              <a:t>Spatial organization of discard</a:t>
            </a:r>
            <a:endParaRPr lang="en-US" sz="2000" b="1" dirty="0"/>
          </a:p>
          <a:p>
            <a:endParaRPr lang="en-US" sz="2400" b="1" dirty="0">
              <a:solidFill>
                <a:schemeClr val="tx2">
                  <a:lumMod val="75000"/>
                </a:schemeClr>
              </a:solidFill>
            </a:endParaRPr>
          </a:p>
        </p:txBody>
      </p:sp>
      <p:sp>
        <p:nvSpPr>
          <p:cNvPr id="5" name="TextBox 4">
            <a:extLst>
              <a:ext uri="{FF2B5EF4-FFF2-40B4-BE49-F238E27FC236}">
                <a16:creationId xmlns:a16="http://schemas.microsoft.com/office/drawing/2014/main" id="{E3FB2242-AF1E-D53B-27A3-D5F2C6DA192E}"/>
              </a:ext>
            </a:extLst>
          </p:cNvPr>
          <p:cNvSpPr txBox="1"/>
          <p:nvPr/>
        </p:nvSpPr>
        <p:spPr>
          <a:xfrm>
            <a:off x="1828800" y="652814"/>
            <a:ext cx="8995726" cy="1569660"/>
          </a:xfrm>
          <a:prstGeom prst="rect">
            <a:avLst/>
          </a:prstGeom>
          <a:noFill/>
        </p:spPr>
        <p:txBody>
          <a:bodyPr wrap="square" rtlCol="0">
            <a:spAutoFit/>
          </a:bodyPr>
          <a:lstStyle/>
          <a:p>
            <a:endParaRPr lang="en-US" dirty="0"/>
          </a:p>
          <a:p>
            <a:r>
              <a:rPr lang="en-US" dirty="0"/>
              <a:t>- How to recognize cleaning up?</a:t>
            </a:r>
          </a:p>
          <a:p>
            <a:endParaRPr lang="en-US" dirty="0"/>
          </a:p>
          <a:p>
            <a:r>
              <a:rPr lang="en-US" dirty="0"/>
              <a:t>- </a:t>
            </a:r>
            <a:r>
              <a:rPr lang="en-US" dirty="0" err="1"/>
              <a:t>Ethnoarchaeological</a:t>
            </a:r>
            <a:r>
              <a:rPr lang="en-US" dirty="0"/>
              <a:t> evidence:  </a:t>
            </a:r>
            <a:r>
              <a:rPr lang="en-US" dirty="0" err="1"/>
              <a:t>Alyawara</a:t>
            </a:r>
            <a:r>
              <a:rPr lang="en-US" dirty="0"/>
              <a:t> men’s camp  (O’Connell 1987)</a:t>
            </a:r>
          </a:p>
          <a:p>
            <a:endParaRPr lang="en-US" sz="2400" dirty="0"/>
          </a:p>
        </p:txBody>
      </p:sp>
    </p:spTree>
    <p:extLst>
      <p:ext uri="{BB962C8B-B14F-4D97-AF65-F5344CB8AC3E}">
        <p14:creationId xmlns:p14="http://schemas.microsoft.com/office/powerpoint/2010/main" val="1116045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Rectangle 5"/>
              <p:cNvSpPr/>
              <p:nvPr/>
            </p:nvSpPr>
            <p:spPr>
              <a:xfrm>
                <a:off x="2301577" y="1028581"/>
                <a:ext cx="5791200" cy="138005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a:rPr>
                            <m:t>𝐴𝑆𝐼</m:t>
                          </m:r>
                        </m:e>
                        <m:sub>
                          <m:r>
                            <a:rPr lang="en-US" sz="3600" i="1">
                              <a:latin typeface="Cambria Math"/>
                            </a:rPr>
                            <m:t>𝑖</m:t>
                          </m:r>
                        </m:sub>
                      </m:sSub>
                      <m:r>
                        <a:rPr lang="en-US" sz="3600" i="1">
                          <a:latin typeface="Cambria Math"/>
                        </a:rPr>
                        <m:t>= </m:t>
                      </m:r>
                      <m:f>
                        <m:fPr>
                          <m:ctrlPr>
                            <a:rPr lang="en-US" sz="3600" i="1">
                              <a:latin typeface="Cambria Math" panose="02040503050406030204" pitchFamily="18" charset="0"/>
                            </a:rPr>
                          </m:ctrlPr>
                        </m:fPr>
                        <m:num>
                          <m:r>
                            <a:rPr lang="en-US" sz="3600" i="1">
                              <a:latin typeface="Cambria Math"/>
                            </a:rPr>
                            <m:t>(</m:t>
                          </m:r>
                          <m:sSub>
                            <m:sSubPr>
                              <m:ctrlPr>
                                <a:rPr lang="en-US" sz="3600" i="1">
                                  <a:latin typeface="Cambria Math" panose="02040503050406030204" pitchFamily="18" charset="0"/>
                                </a:rPr>
                              </m:ctrlPr>
                            </m:sSubPr>
                            <m:e>
                              <m:r>
                                <a:rPr lang="en-US" sz="3600" i="1">
                                  <a:latin typeface="Cambria Math"/>
                                </a:rPr>
                                <m:t>𝑥</m:t>
                              </m:r>
                            </m:e>
                            <m:sub>
                              <m:r>
                                <a:rPr lang="en-US" sz="3600" i="1">
                                  <a:latin typeface="Cambria Math"/>
                                </a:rPr>
                                <m:t>𝑖</m:t>
                              </m:r>
                            </m:sub>
                          </m:sSub>
                          <m:r>
                            <a:rPr lang="en-US" sz="3600" i="1">
                              <a:latin typeface="Cambria Math"/>
                            </a:rPr>
                            <m:t>−</m:t>
                          </m:r>
                          <m:r>
                            <a:rPr lang="en-US" sz="3600" i="1">
                              <a:latin typeface="Cambria Math"/>
                            </a:rPr>
                            <m:t>𝑝</m:t>
                          </m:r>
                          <m:sSub>
                            <m:sSubPr>
                              <m:ctrlPr>
                                <a:rPr lang="en-US" sz="3600" i="1">
                                  <a:latin typeface="Cambria Math" panose="02040503050406030204" pitchFamily="18" charset="0"/>
                                </a:rPr>
                              </m:ctrlPr>
                            </m:sSubPr>
                            <m:e>
                              <m:r>
                                <a:rPr lang="en-US" sz="3600" i="1">
                                  <a:latin typeface="Cambria Math"/>
                                </a:rPr>
                                <m:t>𝑁</m:t>
                              </m:r>
                            </m:e>
                            <m:sub>
                              <m:r>
                                <a:rPr lang="en-US" sz="3600" i="1">
                                  <a:latin typeface="Cambria Math"/>
                                </a:rPr>
                                <m:t>𝑖</m:t>
                              </m:r>
                            </m:sub>
                          </m:sSub>
                          <m:r>
                            <a:rPr lang="en-US" sz="3600" i="1">
                              <a:latin typeface="Cambria Math"/>
                            </a:rPr>
                            <m:t>)</m:t>
                          </m:r>
                        </m:num>
                        <m:den>
                          <m:rad>
                            <m:radPr>
                              <m:degHide m:val="on"/>
                              <m:ctrlPr>
                                <a:rPr lang="en-US" sz="3600" i="1">
                                  <a:latin typeface="Cambria Math" panose="02040503050406030204" pitchFamily="18" charset="0"/>
                                </a:rPr>
                              </m:ctrlPr>
                            </m:radPr>
                            <m:deg/>
                            <m:e>
                              <m:r>
                                <a:rPr lang="en-US" sz="3600" i="1">
                                  <a:latin typeface="Cambria Math"/>
                                </a:rPr>
                                <m:t>𝑝</m:t>
                              </m:r>
                              <m:r>
                                <a:rPr lang="en-US" sz="3600" i="1">
                                  <a:latin typeface="Cambria Math"/>
                                </a:rPr>
                                <m:t>−</m:t>
                              </m:r>
                              <m:d>
                                <m:dPr>
                                  <m:ctrlPr>
                                    <a:rPr lang="en-US" sz="3600" i="1">
                                      <a:latin typeface="Cambria Math" panose="02040503050406030204" pitchFamily="18" charset="0"/>
                                    </a:rPr>
                                  </m:ctrlPr>
                                </m:dPr>
                                <m:e>
                                  <m:r>
                                    <a:rPr lang="en-US" sz="3600" i="1">
                                      <a:latin typeface="Cambria Math"/>
                                    </a:rPr>
                                    <m:t>1−</m:t>
                                  </m:r>
                                  <m:r>
                                    <a:rPr lang="en-US" sz="3600" i="1">
                                      <a:latin typeface="Cambria Math"/>
                                    </a:rPr>
                                    <m:t>𝑝</m:t>
                                  </m:r>
                                </m:e>
                              </m:d>
                              <m:sSub>
                                <m:sSubPr>
                                  <m:ctrlPr>
                                    <a:rPr lang="en-US" sz="3600" i="1">
                                      <a:latin typeface="Cambria Math" panose="02040503050406030204" pitchFamily="18" charset="0"/>
                                    </a:rPr>
                                  </m:ctrlPr>
                                </m:sSubPr>
                                <m:e>
                                  <m:r>
                                    <a:rPr lang="en-US" sz="3600" i="1">
                                      <a:latin typeface="Cambria Math"/>
                                    </a:rPr>
                                    <m:t>𝑁</m:t>
                                  </m:r>
                                </m:e>
                                <m:sub>
                                  <m:r>
                                    <a:rPr lang="en-US" sz="3600" i="1">
                                      <a:latin typeface="Cambria Math"/>
                                    </a:rPr>
                                    <m:t>𝑖</m:t>
                                  </m:r>
                                </m:sub>
                              </m:sSub>
                            </m:e>
                          </m:rad>
                        </m:den>
                      </m:f>
                    </m:oMath>
                  </m:oMathPara>
                </a14:m>
                <a:endParaRPr lang="en-US" sz="3600" dirty="0"/>
              </a:p>
            </p:txBody>
          </p:sp>
        </mc:Choice>
        <mc:Fallback xmlns="">
          <p:sp>
            <p:nvSpPr>
              <p:cNvPr id="6" name="Rectangle 5"/>
              <p:cNvSpPr>
                <a:spLocks noRot="1" noChangeAspect="1" noMove="1" noResize="1" noEditPoints="1" noAdjustHandles="1" noChangeArrowheads="1" noChangeShapeType="1" noTextEdit="1"/>
              </p:cNvSpPr>
              <p:nvPr/>
            </p:nvSpPr>
            <p:spPr>
              <a:xfrm>
                <a:off x="2301577" y="1028581"/>
                <a:ext cx="5791200" cy="138005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1981200" y="2590800"/>
                <a:ext cx="8763000" cy="4305730"/>
              </a:xfrm>
              <a:prstGeom prst="rect">
                <a:avLst/>
              </a:prstGeom>
              <a:noFill/>
            </p:spPr>
            <p:txBody>
              <a:bodyPr wrap="square" rtlCol="0">
                <a:spAutoFit/>
              </a:bodyPr>
              <a:lstStyle/>
              <a:p>
                <a:r>
                  <a:rPr lang="en-US" i="1" dirty="0"/>
                  <a:t>	</a:t>
                </a:r>
                <a:r>
                  <a:rPr lang="en-US" dirty="0"/>
                  <a:t> </a:t>
                </a:r>
                <a14:m>
                  <m:oMath xmlns:m="http://schemas.openxmlformats.org/officeDocument/2006/math">
                    <m:r>
                      <a:rPr lang="en-US" i="1">
                        <a:latin typeface="Cambria Math"/>
                      </a:rPr>
                      <m:t>𝑝</m:t>
                    </m:r>
                    <m:r>
                      <a:rPr lang="en-US" i="1">
                        <a:latin typeface="Cambria Math"/>
                      </a:rPr>
                      <m:t> </m:t>
                    </m:r>
                  </m:oMath>
                </a14:m>
                <a:r>
                  <a:rPr lang="en-US" dirty="0"/>
                  <a:t>= Site-wide proportion of large artifacts</a:t>
                </a:r>
                <a:endParaRPr lang="en-US" i="1" dirty="0"/>
              </a:p>
              <a:p>
                <a:r>
                  <a:rPr lang="en-US" i="1"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𝑖</m:t>
                        </m:r>
                      </m:sub>
                    </m:sSub>
                  </m:oMath>
                </a14:m>
                <a:r>
                  <a:rPr lang="en-US" dirty="0"/>
                  <a:t> = Number of </a:t>
                </a:r>
                <a:r>
                  <a:rPr lang="en-US" b="1" i="1" dirty="0"/>
                  <a:t>large artifacts </a:t>
                </a:r>
                <a:r>
                  <a:rPr lang="en-US" dirty="0"/>
                  <a:t>from the </a:t>
                </a:r>
                <a:r>
                  <a:rPr lang="en-US" dirty="0" err="1"/>
                  <a:t>i’th</a:t>
                </a:r>
                <a:r>
                  <a:rPr lang="en-US" dirty="0"/>
                  <a:t> quadrat</a:t>
                </a:r>
                <a:endParaRPr lang="en-US" i="1" dirty="0"/>
              </a:p>
              <a:p>
                <a:r>
                  <a:rPr lang="en-US" i="1"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𝑁</m:t>
                        </m:r>
                      </m:e>
                      <m:sub>
                        <m:r>
                          <a:rPr lang="en-US" i="1">
                            <a:latin typeface="Cambria Math"/>
                          </a:rPr>
                          <m:t>𝑖</m:t>
                        </m:r>
                      </m:sub>
                    </m:sSub>
                  </m:oMath>
                </a14:m>
                <a:r>
                  <a:rPr lang="en-US" dirty="0"/>
                  <a:t> = Total artifacts from the </a:t>
                </a:r>
                <a:r>
                  <a:rPr lang="en-US" i="1" dirty="0" err="1"/>
                  <a:t>i’th</a:t>
                </a:r>
                <a:r>
                  <a:rPr lang="en-US" i="1" dirty="0"/>
                  <a:t> </a:t>
                </a:r>
                <a:r>
                  <a:rPr lang="en-US" dirty="0"/>
                  <a:t>quadrat</a:t>
                </a:r>
              </a:p>
              <a:p>
                <a:endParaRPr lang="en-US" dirty="0"/>
              </a:p>
              <a:p>
                <a:r>
                  <a:rPr lang="en-US" dirty="0"/>
                  <a:t>	So…</a:t>
                </a:r>
              </a:p>
              <a:p>
                <a:endParaRPr lang="en-US" dirty="0"/>
              </a:p>
              <a:p>
                <a:r>
                  <a:rPr lang="en-US" dirty="0"/>
                  <a:t>	</a:t>
                </a:r>
                <a:r>
                  <a:rPr lang="en-US" i="1" dirty="0"/>
                  <a:t> </a:t>
                </a:r>
                <a14:m>
                  <m:oMath xmlns:m="http://schemas.openxmlformats.org/officeDocument/2006/math">
                    <m:r>
                      <a:rPr lang="en-US" i="1">
                        <a:latin typeface="Cambria Math"/>
                      </a:rPr>
                      <m:t>𝑝</m:t>
                    </m:r>
                    <m:sSub>
                      <m:sSubPr>
                        <m:ctrlPr>
                          <a:rPr lang="en-US" i="1">
                            <a:latin typeface="Cambria Math" panose="02040503050406030204" pitchFamily="18" charset="0"/>
                          </a:rPr>
                        </m:ctrlPr>
                      </m:sSubPr>
                      <m:e>
                        <m:r>
                          <a:rPr lang="en-US" i="1">
                            <a:latin typeface="Cambria Math"/>
                          </a:rPr>
                          <m:t>𝑁</m:t>
                        </m:r>
                      </m:e>
                      <m:sub>
                        <m:r>
                          <a:rPr lang="en-US" i="1">
                            <a:latin typeface="Cambria Math"/>
                          </a:rPr>
                          <m:t>𝑖</m:t>
                        </m:r>
                      </m:sub>
                    </m:sSub>
                  </m:oMath>
                </a14:m>
                <a:r>
                  <a:rPr lang="en-US" i="1" dirty="0"/>
                  <a:t> </a:t>
                </a:r>
                <a:r>
                  <a:rPr lang="en-US" dirty="0"/>
                  <a:t>= </a:t>
                </a:r>
                <a:r>
                  <a:rPr lang="en-US" b="1" i="1" dirty="0"/>
                  <a:t>Expected number of large artifacts </a:t>
                </a:r>
                <a:r>
                  <a:rPr lang="en-US" dirty="0"/>
                  <a:t>in th</a:t>
                </a:r>
                <a:r>
                  <a:rPr lang="en-US" i="1" dirty="0"/>
                  <a:t>e  </a:t>
                </a:r>
                <a:r>
                  <a:rPr lang="en-US" i="1" dirty="0" err="1"/>
                  <a:t>i’th</a:t>
                </a:r>
                <a:r>
                  <a:rPr lang="en-US" i="1" dirty="0"/>
                  <a:t> </a:t>
                </a:r>
                <a:r>
                  <a:rPr lang="en-US" dirty="0"/>
                  <a:t>quadrat, if all quads had 		the site-wide proportion.</a:t>
                </a:r>
              </a:p>
              <a:p>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i="1">
                        <a:latin typeface="Cambria Math"/>
                      </a:rPr>
                      <m:t>𝑝</m:t>
                    </m:r>
                    <m:sSub>
                      <m:sSubPr>
                        <m:ctrlPr>
                          <a:rPr lang="en-US" i="1">
                            <a:latin typeface="Cambria Math" panose="02040503050406030204" pitchFamily="18" charset="0"/>
                          </a:rPr>
                        </m:ctrlPr>
                      </m:sSubPr>
                      <m:e>
                        <m:r>
                          <a:rPr lang="en-US" i="1">
                            <a:latin typeface="Cambria Math"/>
                          </a:rPr>
                          <m:t>𝑁</m:t>
                        </m:r>
                      </m:e>
                      <m:sub>
                        <m:r>
                          <a:rPr lang="en-US" i="1">
                            <a:latin typeface="Cambria Math"/>
                          </a:rPr>
                          <m:t>𝑖</m:t>
                        </m:r>
                      </m:sub>
                    </m:sSub>
                    <m:r>
                      <a:rPr lang="en-US" b="0" i="1" smtClean="0">
                        <a:latin typeface="Cambria Math" panose="02040503050406030204" pitchFamily="18" charset="0"/>
                      </a:rPr>
                      <m:t>)=</m:t>
                    </m:r>
                  </m:oMath>
                </a14:m>
                <a:r>
                  <a:rPr lang="en-US" i="1" dirty="0"/>
                  <a:t> </a:t>
                </a:r>
                <a:r>
                  <a:rPr lang="en-US" b="1" i="1" dirty="0"/>
                  <a:t>How many more (or less) large artifacts there are than expected.  </a:t>
                </a:r>
              </a:p>
              <a:p>
                <a:r>
                  <a:rPr lang="en-US" dirty="0"/>
                  <a:t>	</a:t>
                </a:r>
                <a14:m>
                  <m:oMath xmlns:m="http://schemas.openxmlformats.org/officeDocument/2006/math">
                    <m:rad>
                      <m:radPr>
                        <m:degHide m:val="on"/>
                        <m:ctrlPr>
                          <a:rPr lang="en-US" i="1">
                            <a:latin typeface="Cambria Math" panose="02040503050406030204" pitchFamily="18" charset="0"/>
                          </a:rPr>
                        </m:ctrlPr>
                      </m:radPr>
                      <m:deg/>
                      <m:e>
                        <m:r>
                          <a:rPr lang="en-US" i="1">
                            <a:latin typeface="Cambria Math"/>
                          </a:rPr>
                          <m:t>𝑝</m:t>
                        </m:r>
                        <m:r>
                          <a:rPr lang="en-US" i="1">
                            <a:latin typeface="Cambria Math"/>
                          </a:rPr>
                          <m:t>−</m:t>
                        </m:r>
                        <m:d>
                          <m:dPr>
                            <m:ctrlPr>
                              <a:rPr lang="en-US" i="1">
                                <a:latin typeface="Cambria Math" panose="02040503050406030204" pitchFamily="18" charset="0"/>
                              </a:rPr>
                            </m:ctrlPr>
                          </m:dPr>
                          <m:e>
                            <m:r>
                              <a:rPr lang="en-US" i="1">
                                <a:latin typeface="Cambria Math"/>
                              </a:rPr>
                              <m:t>1−</m:t>
                            </m:r>
                            <m:r>
                              <a:rPr lang="en-US" i="1">
                                <a:latin typeface="Cambria Math"/>
                              </a:rPr>
                              <m:t>𝑝</m:t>
                            </m:r>
                          </m:e>
                        </m:d>
                        <m:sSub>
                          <m:sSubPr>
                            <m:ctrlPr>
                              <a:rPr lang="en-US" i="1">
                                <a:latin typeface="Cambria Math" panose="02040503050406030204" pitchFamily="18" charset="0"/>
                              </a:rPr>
                            </m:ctrlPr>
                          </m:sSubPr>
                          <m:e>
                            <m:r>
                              <a:rPr lang="en-US" i="1">
                                <a:latin typeface="Cambria Math"/>
                              </a:rPr>
                              <m:t>𝑁</m:t>
                            </m:r>
                          </m:e>
                          <m:sub>
                            <m:r>
                              <a:rPr lang="en-US" i="1">
                                <a:latin typeface="Cambria Math"/>
                              </a:rPr>
                              <m:t>𝑖</m:t>
                            </m:r>
                          </m:sub>
                        </m:sSub>
                      </m:e>
                    </m:rad>
                  </m:oMath>
                </a14:m>
                <a:r>
                  <a:rPr lang="en-US" dirty="0"/>
                  <a:t> =  Standard deviation of the </a:t>
                </a:r>
                <a:r>
                  <a:rPr lang="en-US" i="1" dirty="0"/>
                  <a:t>Gaussian approximation </a:t>
                </a:r>
                <a:r>
                  <a:rPr lang="en-US" dirty="0"/>
                  <a:t>to the </a:t>
                </a:r>
              </a:p>
              <a:p>
                <a:r>
                  <a:rPr lang="en-US" dirty="0"/>
                  <a:t>		</a:t>
                </a:r>
                <a:r>
                  <a:rPr lang="en-US" i="1" dirty="0"/>
                  <a:t>binomial distribution</a:t>
                </a:r>
                <a:r>
                  <a:rPr lang="en-US" dirty="0"/>
                  <a:t>, which is a simple statistical model of the  		chance of getting  0, 1, 2, 3 … larger artifacts in a sample of size </a:t>
                </a:r>
                <a14:m>
                  <m:oMath xmlns:m="http://schemas.openxmlformats.org/officeDocument/2006/math">
                    <m:sSub>
                      <m:sSubPr>
                        <m:ctrlPr>
                          <a:rPr lang="en-US" i="1">
                            <a:latin typeface="Cambria Math" panose="02040503050406030204" pitchFamily="18" charset="0"/>
                          </a:rPr>
                        </m:ctrlPr>
                      </m:sSubPr>
                      <m:e>
                        <m:r>
                          <a:rPr lang="en-US" i="1">
                            <a:latin typeface="Cambria Math"/>
                          </a:rPr>
                          <m:t>𝑁</m:t>
                        </m:r>
                      </m:e>
                      <m:sub>
                        <m:r>
                          <a:rPr lang="en-US" i="1">
                            <a:latin typeface="Cambria Math"/>
                          </a:rPr>
                          <m:t>𝑖</m:t>
                        </m:r>
                      </m:sub>
                    </m:sSub>
                  </m:oMath>
                </a14:m>
                <a:r>
                  <a:rPr lang="en-US" dirty="0"/>
                  <a:t> 		when the underlying probability of getting a large artifact is </a:t>
                </a:r>
                <a14:m>
                  <m:oMath xmlns:m="http://schemas.openxmlformats.org/officeDocument/2006/math">
                    <m:r>
                      <a:rPr lang="en-US" i="1">
                        <a:latin typeface="Cambria Math"/>
                      </a:rPr>
                      <m:t>𝑝</m:t>
                    </m:r>
                  </m:oMath>
                </a14:m>
                <a:r>
                  <a:rPr lang="en-US" dirty="0"/>
                  <a:t>.</a:t>
                </a:r>
              </a:p>
              <a:p>
                <a:r>
                  <a:rPr lang="en-US" dirty="0"/>
                  <a:t>More secret sauce:</a:t>
                </a:r>
              </a:p>
              <a:p>
                <a:r>
                  <a:rPr lang="en-US" dirty="0"/>
                  <a:t>	- Interpolate continuous surfaces from ASI values.</a:t>
                </a:r>
              </a:p>
            </p:txBody>
          </p:sp>
        </mc:Choice>
        <mc:Fallback>
          <p:sp>
            <p:nvSpPr>
              <p:cNvPr id="7" name="TextBox 6"/>
              <p:cNvSpPr txBox="1">
                <a:spLocks noRot="1" noChangeAspect="1" noMove="1" noResize="1" noEditPoints="1" noAdjustHandles="1" noChangeArrowheads="1" noChangeShapeType="1" noTextEdit="1"/>
              </p:cNvSpPr>
              <p:nvPr/>
            </p:nvSpPr>
            <p:spPr>
              <a:xfrm>
                <a:off x="1981200" y="2590800"/>
                <a:ext cx="8763000" cy="4305730"/>
              </a:xfrm>
              <a:prstGeom prst="rect">
                <a:avLst/>
              </a:prstGeom>
              <a:blipFill>
                <a:blip r:embed="rId3"/>
                <a:stretch>
                  <a:fillRect l="-556" t="-708" b="-1416"/>
                </a:stretch>
              </a:blipFill>
            </p:spPr>
            <p:txBody>
              <a:bodyPr/>
              <a:lstStyle/>
              <a:p>
                <a:r>
                  <a:rPr lang="en-US">
                    <a:noFill/>
                  </a:rPr>
                  <a:t> </a:t>
                </a:r>
              </a:p>
            </p:txBody>
          </p:sp>
        </mc:Fallback>
      </mc:AlternateContent>
      <p:sp>
        <p:nvSpPr>
          <p:cNvPr id="2" name="TextBox 1"/>
          <p:cNvSpPr txBox="1"/>
          <p:nvPr/>
        </p:nvSpPr>
        <p:spPr>
          <a:xfrm>
            <a:off x="304800" y="238468"/>
            <a:ext cx="6678944" cy="738664"/>
          </a:xfrm>
          <a:prstGeom prst="rect">
            <a:avLst/>
          </a:prstGeom>
          <a:noFill/>
        </p:spPr>
        <p:txBody>
          <a:bodyPr wrap="none" rtlCol="0">
            <a:spAutoFit/>
          </a:bodyPr>
          <a:lstStyle/>
          <a:p>
            <a:r>
              <a:rPr lang="en-US" sz="2400" b="1" dirty="0">
                <a:solidFill>
                  <a:schemeClr val="bg1">
                    <a:lumMod val="50000"/>
                  </a:schemeClr>
                </a:solidFill>
              </a:rPr>
              <a:t>The Artifact Size Index</a:t>
            </a:r>
          </a:p>
          <a:p>
            <a:r>
              <a:rPr lang="en-US" b="1" dirty="0"/>
              <a:t>A statistic to recognize the size sorting that results from cleaning up</a:t>
            </a:r>
          </a:p>
        </p:txBody>
      </p:sp>
      <p:sp>
        <p:nvSpPr>
          <p:cNvPr id="3" name="TextBox 2">
            <a:extLst>
              <a:ext uri="{FF2B5EF4-FFF2-40B4-BE49-F238E27FC236}">
                <a16:creationId xmlns:a16="http://schemas.microsoft.com/office/drawing/2014/main" id="{C140F631-0138-D5E7-B893-E1E8A0704F73}"/>
              </a:ext>
            </a:extLst>
          </p:cNvPr>
          <p:cNvSpPr txBox="1"/>
          <p:nvPr/>
        </p:nvSpPr>
        <p:spPr>
          <a:xfrm>
            <a:off x="8458201" y="918391"/>
            <a:ext cx="2106667" cy="2031325"/>
          </a:xfrm>
          <a:prstGeom prst="rect">
            <a:avLst/>
          </a:prstGeom>
          <a:noFill/>
        </p:spPr>
        <p:txBody>
          <a:bodyPr wrap="none" rtlCol="0">
            <a:spAutoFit/>
          </a:bodyPr>
          <a:lstStyle/>
          <a:p>
            <a:r>
              <a:rPr lang="en-US" i="1" dirty="0"/>
              <a:t>Positive ASI: More </a:t>
            </a:r>
          </a:p>
          <a:p>
            <a:r>
              <a:rPr lang="en-US" i="1" dirty="0"/>
              <a:t>large artifacts than </a:t>
            </a:r>
          </a:p>
          <a:p>
            <a:r>
              <a:rPr lang="en-US" i="1" dirty="0"/>
              <a:t>expected </a:t>
            </a:r>
          </a:p>
          <a:p>
            <a:endParaRPr lang="en-US" i="1" dirty="0"/>
          </a:p>
          <a:p>
            <a:r>
              <a:rPr lang="en-US" i="1" dirty="0"/>
              <a:t>Negative ASI: Fewer </a:t>
            </a:r>
          </a:p>
          <a:p>
            <a:r>
              <a:rPr lang="en-US" i="1" dirty="0"/>
              <a:t>Large artifacts than </a:t>
            </a:r>
          </a:p>
          <a:p>
            <a:r>
              <a:rPr lang="en-US" i="1" dirty="0"/>
              <a:t>expected</a:t>
            </a:r>
          </a:p>
        </p:txBody>
      </p:sp>
    </p:spTree>
    <p:extLst>
      <p:ext uri="{BB962C8B-B14F-4D97-AF65-F5344CB8AC3E}">
        <p14:creationId xmlns:p14="http://schemas.microsoft.com/office/powerpoint/2010/main" val="2959054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2601" y="150926"/>
            <a:ext cx="5275119" cy="6826623"/>
          </a:xfrm>
          <a:prstGeom prst="rect">
            <a:avLst/>
          </a:prstGeom>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152399"/>
            <a:ext cx="5759809" cy="746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870638" y="4038601"/>
            <a:ext cx="1365630" cy="307777"/>
          </a:xfrm>
          <a:prstGeom prst="rect">
            <a:avLst/>
          </a:prstGeom>
          <a:solidFill>
            <a:schemeClr val="bg1"/>
          </a:solidFill>
        </p:spPr>
        <p:txBody>
          <a:bodyPr wrap="none" rtlCol="0">
            <a:spAutoFit/>
          </a:bodyPr>
          <a:lstStyle/>
          <a:p>
            <a:r>
              <a:rPr lang="en-US" sz="1400" dirty="0"/>
              <a:t>Ceramic Density</a:t>
            </a:r>
          </a:p>
        </p:txBody>
      </p:sp>
      <p:sp>
        <p:nvSpPr>
          <p:cNvPr id="5" name="TextBox 4"/>
          <p:cNvSpPr txBox="1"/>
          <p:nvPr/>
        </p:nvSpPr>
        <p:spPr>
          <a:xfrm>
            <a:off x="9220200" y="4114800"/>
            <a:ext cx="1371600" cy="307777"/>
          </a:xfrm>
          <a:prstGeom prst="rect">
            <a:avLst/>
          </a:prstGeom>
          <a:solidFill>
            <a:schemeClr val="bg1"/>
          </a:solidFill>
        </p:spPr>
        <p:txBody>
          <a:bodyPr wrap="square" rtlCol="0">
            <a:spAutoFit/>
          </a:bodyPr>
          <a:lstStyle/>
          <a:p>
            <a:r>
              <a:rPr lang="en-US" sz="1400" dirty="0"/>
              <a:t>Ceramic ASI</a:t>
            </a:r>
          </a:p>
        </p:txBody>
      </p:sp>
      <p:sp>
        <p:nvSpPr>
          <p:cNvPr id="7" name="TextBox 6"/>
          <p:cNvSpPr txBox="1"/>
          <p:nvPr/>
        </p:nvSpPr>
        <p:spPr>
          <a:xfrm>
            <a:off x="386777" y="13274"/>
            <a:ext cx="2385846" cy="830997"/>
          </a:xfrm>
          <a:prstGeom prst="rect">
            <a:avLst/>
          </a:prstGeom>
          <a:noFill/>
        </p:spPr>
        <p:txBody>
          <a:bodyPr wrap="none" rtlCol="0">
            <a:spAutoFit/>
          </a:bodyPr>
          <a:lstStyle/>
          <a:p>
            <a:r>
              <a:rPr lang="en-US" sz="2400" b="1" dirty="0">
                <a:solidFill>
                  <a:schemeClr val="bg1">
                    <a:lumMod val="50000"/>
                  </a:schemeClr>
                </a:solidFill>
              </a:rPr>
              <a:t>Site 8</a:t>
            </a:r>
          </a:p>
          <a:p>
            <a:r>
              <a:rPr lang="en-US" b="1" dirty="0"/>
              <a:t>Size Sorting: Ceramics </a:t>
            </a:r>
            <a:r>
              <a:rPr lang="en-US" sz="2400" b="1" dirty="0">
                <a:solidFill>
                  <a:schemeClr val="bg1">
                    <a:lumMod val="50000"/>
                  </a:schemeClr>
                </a:solidFill>
              </a:rPr>
              <a:t> </a:t>
            </a:r>
          </a:p>
        </p:txBody>
      </p:sp>
      <p:sp>
        <p:nvSpPr>
          <p:cNvPr id="8" name="TextBox 7">
            <a:extLst>
              <a:ext uri="{FF2B5EF4-FFF2-40B4-BE49-F238E27FC236}">
                <a16:creationId xmlns:a16="http://schemas.microsoft.com/office/drawing/2014/main" id="{63A40F5A-ED55-C1A3-6FBB-6E40FB78B21C}"/>
              </a:ext>
            </a:extLst>
          </p:cNvPr>
          <p:cNvSpPr txBox="1"/>
          <p:nvPr/>
        </p:nvSpPr>
        <p:spPr>
          <a:xfrm flipH="1">
            <a:off x="9555480" y="4495800"/>
            <a:ext cx="109728" cy="369332"/>
          </a:xfrm>
          <a:prstGeom prst="rect">
            <a:avLst/>
          </a:prstGeom>
          <a:solidFill>
            <a:schemeClr val="bg1"/>
          </a:solidFill>
        </p:spPr>
        <p:txBody>
          <a:bodyPr wrap="square" rtlCol="0">
            <a:spAutoFit/>
          </a:bodyPr>
          <a:lstStyle/>
          <a:p>
            <a:endParaRPr lang="en-US" dirty="0"/>
          </a:p>
        </p:txBody>
      </p:sp>
      <p:sp>
        <p:nvSpPr>
          <p:cNvPr id="9" name="TextBox 8">
            <a:extLst>
              <a:ext uri="{FF2B5EF4-FFF2-40B4-BE49-F238E27FC236}">
                <a16:creationId xmlns:a16="http://schemas.microsoft.com/office/drawing/2014/main" id="{B12419B0-704F-3218-A3BC-0A4BCA49CE05}"/>
              </a:ext>
            </a:extLst>
          </p:cNvPr>
          <p:cNvSpPr txBox="1"/>
          <p:nvPr/>
        </p:nvSpPr>
        <p:spPr>
          <a:xfrm flipH="1">
            <a:off x="9829801" y="4572000"/>
            <a:ext cx="45719" cy="369332"/>
          </a:xfrm>
          <a:prstGeom prst="rect">
            <a:avLst/>
          </a:prstGeom>
          <a:solidFill>
            <a:schemeClr val="bg1"/>
          </a:solidFill>
        </p:spPr>
        <p:txBody>
          <a:bodyPr wrap="square" rtlCol="0">
            <a:spAutoFit/>
          </a:bodyPr>
          <a:lstStyle/>
          <a:p>
            <a:endParaRPr lang="en-US" dirty="0"/>
          </a:p>
        </p:txBody>
      </p:sp>
      <p:sp>
        <p:nvSpPr>
          <p:cNvPr id="10" name="TextBox 9">
            <a:extLst>
              <a:ext uri="{FF2B5EF4-FFF2-40B4-BE49-F238E27FC236}">
                <a16:creationId xmlns:a16="http://schemas.microsoft.com/office/drawing/2014/main" id="{888838B4-ABCF-6DE2-736B-146919A84473}"/>
              </a:ext>
            </a:extLst>
          </p:cNvPr>
          <p:cNvSpPr txBox="1"/>
          <p:nvPr/>
        </p:nvSpPr>
        <p:spPr>
          <a:xfrm flipH="1">
            <a:off x="9829800" y="4528820"/>
            <a:ext cx="91440" cy="369332"/>
          </a:xfrm>
          <a:prstGeom prst="rect">
            <a:avLst/>
          </a:prstGeom>
          <a:solidFill>
            <a:schemeClr val="bg1"/>
          </a:solidFill>
        </p:spPr>
        <p:txBody>
          <a:bodyPr wrap="square" rtlCol="0">
            <a:spAutoFit/>
          </a:bodyPr>
          <a:lstStyle/>
          <a:p>
            <a:endParaRPr lang="en-US" dirty="0"/>
          </a:p>
        </p:txBody>
      </p:sp>
      <p:sp>
        <p:nvSpPr>
          <p:cNvPr id="11" name="TextBox 10">
            <a:extLst>
              <a:ext uri="{FF2B5EF4-FFF2-40B4-BE49-F238E27FC236}">
                <a16:creationId xmlns:a16="http://schemas.microsoft.com/office/drawing/2014/main" id="{F3C97C3F-2DC2-AACD-7076-071DA3E4EA49}"/>
              </a:ext>
            </a:extLst>
          </p:cNvPr>
          <p:cNvSpPr txBox="1"/>
          <p:nvPr/>
        </p:nvSpPr>
        <p:spPr>
          <a:xfrm flipH="1">
            <a:off x="9479281" y="5105400"/>
            <a:ext cx="64755" cy="704088"/>
          </a:xfrm>
          <a:prstGeom prst="rect">
            <a:avLst/>
          </a:prstGeom>
          <a:solidFill>
            <a:schemeClr val="bg1"/>
          </a:solidFill>
        </p:spPr>
        <p:txBody>
          <a:bodyPr wrap="square" rtlCol="0">
            <a:spAutoFit/>
          </a:bodyPr>
          <a:lstStyle/>
          <a:p>
            <a:r>
              <a:rPr lang="en-US" sz="800" dirty="0"/>
              <a:t>-</a:t>
            </a:r>
          </a:p>
          <a:p>
            <a:r>
              <a:rPr lang="en-US" sz="800" dirty="0"/>
              <a:t>-</a:t>
            </a:r>
          </a:p>
          <a:p>
            <a:r>
              <a:rPr lang="en-US" sz="800" dirty="0"/>
              <a:t>-</a:t>
            </a:r>
          </a:p>
          <a:p>
            <a:r>
              <a:rPr lang="en-US" sz="800" dirty="0"/>
              <a:t>-</a:t>
            </a:r>
          </a:p>
          <a:p>
            <a:r>
              <a:rPr lang="en-US" sz="800" dirty="0"/>
              <a:t>-</a:t>
            </a:r>
          </a:p>
        </p:txBody>
      </p:sp>
      <p:sp>
        <p:nvSpPr>
          <p:cNvPr id="12" name="TextBox 11">
            <a:extLst>
              <a:ext uri="{FF2B5EF4-FFF2-40B4-BE49-F238E27FC236}">
                <a16:creationId xmlns:a16="http://schemas.microsoft.com/office/drawing/2014/main" id="{74E34451-C52B-EA9E-DE7B-2CB34A862ABE}"/>
              </a:ext>
            </a:extLst>
          </p:cNvPr>
          <p:cNvSpPr txBox="1"/>
          <p:nvPr/>
        </p:nvSpPr>
        <p:spPr>
          <a:xfrm flipH="1">
            <a:off x="9479280" y="4495800"/>
            <a:ext cx="109728"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421104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1" y="0"/>
            <a:ext cx="5206837" cy="6738258"/>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1" y="0"/>
            <a:ext cx="5098473" cy="6598024"/>
          </a:xfrm>
          <a:prstGeom prst="rect">
            <a:avLst/>
          </a:prstGeom>
        </p:spPr>
      </p:pic>
      <p:sp>
        <p:nvSpPr>
          <p:cNvPr id="2" name="TextBox 1">
            <a:extLst>
              <a:ext uri="{FF2B5EF4-FFF2-40B4-BE49-F238E27FC236}">
                <a16:creationId xmlns:a16="http://schemas.microsoft.com/office/drawing/2014/main" id="{65B097D5-2213-D24A-334A-6000E28E2986}"/>
              </a:ext>
            </a:extLst>
          </p:cNvPr>
          <p:cNvSpPr txBox="1"/>
          <p:nvPr/>
        </p:nvSpPr>
        <p:spPr>
          <a:xfrm>
            <a:off x="386777" y="13274"/>
            <a:ext cx="1996572" cy="830997"/>
          </a:xfrm>
          <a:prstGeom prst="rect">
            <a:avLst/>
          </a:prstGeom>
          <a:noFill/>
        </p:spPr>
        <p:txBody>
          <a:bodyPr wrap="none" rtlCol="0">
            <a:spAutoFit/>
          </a:bodyPr>
          <a:lstStyle/>
          <a:p>
            <a:r>
              <a:rPr lang="en-US" sz="2400" b="1" dirty="0">
                <a:solidFill>
                  <a:schemeClr val="bg1">
                    <a:lumMod val="50000"/>
                  </a:schemeClr>
                </a:solidFill>
              </a:rPr>
              <a:t>Site 8</a:t>
            </a:r>
          </a:p>
          <a:p>
            <a:r>
              <a:rPr lang="en-US" b="1" dirty="0"/>
              <a:t>Size Sorting: Nails </a:t>
            </a:r>
            <a:r>
              <a:rPr lang="en-US" sz="2400" b="1" dirty="0">
                <a:solidFill>
                  <a:schemeClr val="bg1">
                    <a:lumMod val="50000"/>
                  </a:schemeClr>
                </a:solidFill>
              </a:rPr>
              <a:t> </a:t>
            </a:r>
          </a:p>
        </p:txBody>
      </p:sp>
    </p:spTree>
    <p:extLst>
      <p:ext uri="{BB962C8B-B14F-4D97-AF65-F5344CB8AC3E}">
        <p14:creationId xmlns:p14="http://schemas.microsoft.com/office/powerpoint/2010/main" val="1255066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4D45FA-EFD9-B61F-46A6-38B5567CF47A}"/>
              </a:ext>
            </a:extLst>
          </p:cNvPr>
          <p:cNvSpPr txBox="1"/>
          <p:nvPr/>
        </p:nvSpPr>
        <p:spPr>
          <a:xfrm>
            <a:off x="609600" y="304800"/>
            <a:ext cx="10439400" cy="7663636"/>
          </a:xfrm>
          <a:prstGeom prst="rect">
            <a:avLst/>
          </a:prstGeom>
          <a:noFill/>
        </p:spPr>
        <p:txBody>
          <a:bodyPr wrap="square">
            <a:spAutoFit/>
          </a:bodyPr>
          <a:lstStyle/>
          <a:p>
            <a:r>
              <a:rPr lang="en-US" sz="2400" b="1" dirty="0">
                <a:solidFill>
                  <a:schemeClr val="bg1">
                    <a:lumMod val="50000"/>
                  </a:schemeClr>
                </a:solidFill>
              </a:rPr>
              <a:t>Archaeological Spatial Structure </a:t>
            </a:r>
            <a:r>
              <a:rPr lang="en-US" b="1" dirty="0">
                <a:solidFill>
                  <a:schemeClr val="accent2"/>
                </a:solidFill>
              </a:rPr>
              <a:t>	</a:t>
            </a:r>
          </a:p>
          <a:p>
            <a:endParaRPr lang="en-US" dirty="0"/>
          </a:p>
          <a:p>
            <a:pPr marL="285750" indent="-285750">
              <a:buFont typeface="Arial" panose="020B0604020202020204" pitchFamily="34" charset="0"/>
              <a:buChar char="•"/>
            </a:pPr>
            <a:r>
              <a:rPr lang="en-US" b="1" i="1" dirty="0"/>
              <a:t>Site Structure</a:t>
            </a:r>
            <a:r>
              <a:rPr lang="en-US" dirty="0"/>
              <a:t>: how subsurface features are arranged across a site — for instance, the remnants of buildings, fences, pits, and comparable traces.</a:t>
            </a:r>
          </a:p>
          <a:p>
            <a:pPr marL="342900" indent="-342900">
              <a:buAutoNum type="arabicPeriod"/>
            </a:pPr>
            <a:endParaRPr lang="en-US" dirty="0"/>
          </a:p>
          <a:p>
            <a:pPr marL="285750" indent="-285750">
              <a:buFont typeface="Arial" panose="020B0604020202020204" pitchFamily="34" charset="0"/>
              <a:buChar char="•"/>
            </a:pPr>
            <a:r>
              <a:rPr lang="en-US" b="1" i="1" dirty="0"/>
              <a:t>Intra-Site Artifact Distributions</a:t>
            </a:r>
            <a:r>
              <a:rPr lang="en-US" dirty="0"/>
              <a:t>: the way artifacts are spread within a site, represented through artifact density surfaces.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Model of General versus Special Activity Areas</a:t>
            </a:r>
            <a:r>
              <a:rPr lang="en-US" dirty="0"/>
              <a:t> </a:t>
            </a:r>
          </a:p>
          <a:p>
            <a:pPr marL="742950" lvl="1" indent="-285750">
              <a:buFont typeface="Courier New" panose="02070309020205020404" pitchFamily="49" charset="0"/>
              <a:buChar char="o"/>
            </a:pPr>
            <a:r>
              <a:rPr lang="en-US" dirty="0"/>
              <a:t>Interference costs offer an incentive to separate special activity areas from general ones.</a:t>
            </a:r>
          </a:p>
          <a:p>
            <a:pPr marL="742950" lvl="1" indent="-285750">
              <a:buFont typeface="Courier New" panose="02070309020205020404" pitchFamily="49" charset="0"/>
              <a:buChar char="o"/>
            </a:pPr>
            <a:r>
              <a:rPr lang="en-US" dirty="0"/>
              <a:t>Cost of repeated traveling between general and special activity areas constrains that movement.</a:t>
            </a:r>
          </a:p>
          <a:p>
            <a:pPr marL="742950" lvl="1" indent="-285750">
              <a:buFont typeface="Courier New" panose="02070309020205020404" pitchFamily="49" charset="0"/>
              <a:buChar char="o"/>
            </a:pPr>
            <a:r>
              <a:rPr lang="en-US" dirty="0"/>
              <a:t>The framework applies to location of features and location of trash disposal (cleaning up)</a:t>
            </a:r>
          </a:p>
          <a:p>
            <a:pPr lvl="1"/>
            <a:endParaRPr lang="en-US" dirty="0"/>
          </a:p>
          <a:p>
            <a:pPr marL="285750" indent="-285750">
              <a:buFont typeface="Arial" panose="020B0604020202020204" pitchFamily="34" charset="0"/>
              <a:buChar char="•"/>
            </a:pPr>
            <a:r>
              <a:rPr lang="en-US" b="1" dirty="0"/>
              <a:t>Case Study 1: Site Structure</a:t>
            </a:r>
          </a:p>
          <a:p>
            <a:pPr marL="742950" lvl="1" indent="-285750">
              <a:buFont typeface="Courier New" panose="02070309020205020404" pitchFamily="49" charset="0"/>
              <a:buChar char="o"/>
            </a:pPr>
            <a:r>
              <a:rPr lang="en-US" dirty="0"/>
              <a:t>How site structure evolved over time: the positioning of borrow pits at the </a:t>
            </a:r>
            <a:r>
              <a:rPr lang="en-US" dirty="0" err="1"/>
              <a:t>Clifts</a:t>
            </a:r>
            <a:r>
              <a:rPr lang="en-US" dirty="0"/>
              <a:t> Plantation Site</a:t>
            </a:r>
          </a:p>
          <a:p>
            <a:pPr marL="742950" lvl="1" indent="-285750">
              <a:buFont typeface="Courier New" panose="02070309020205020404" pitchFamily="49" charset="0"/>
              <a:buChar char="o"/>
            </a:pPr>
            <a:r>
              <a:rPr lang="en-US" dirty="0"/>
              <a:t>Distance of pits from the main house scales with how intensively yard around it is used: number of people, number of outbuilding.</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Case Study 2: Intra-site Artifact Distributions</a:t>
            </a:r>
          </a:p>
          <a:p>
            <a:pPr marL="742950" lvl="1" indent="-285750">
              <a:buFont typeface="Courier New" panose="02070309020205020404" pitchFamily="49" charset="0"/>
              <a:buChar char="o"/>
            </a:pPr>
            <a:r>
              <a:rPr lang="en-US" dirty="0"/>
              <a:t>Variation in level of cleaning up among households: size sorting</a:t>
            </a:r>
          </a:p>
          <a:p>
            <a:pPr marL="742950" lvl="1" indent="-285750">
              <a:buFont typeface="Courier New" panose="02070309020205020404" pitchFamily="49" charset="0"/>
              <a:buChar char="o"/>
            </a:pPr>
            <a:r>
              <a:rPr lang="en-US" dirty="0"/>
              <a:t>Establish a site chronology using spatial patterns</a:t>
            </a:r>
          </a:p>
          <a:p>
            <a:pPr marL="742950" lvl="1" indent="-285750">
              <a:buFont typeface="Courier New" panose="02070309020205020404" pitchFamily="49" charset="0"/>
              <a:buChar char="o"/>
            </a:pPr>
            <a:r>
              <a:rPr lang="en-US" dirty="0"/>
              <a:t>Variation in levels of size sorting among households scale with how intensively yards are used.</a:t>
            </a:r>
          </a:p>
          <a:p>
            <a:pPr marL="742950" lvl="1" indent="-285750">
              <a:buFont typeface="Courier New" panose="02070309020205020404" pitchFamily="49" charset="0"/>
              <a:buChar char="o"/>
            </a:pPr>
            <a:endParaRPr lang="en-US" dirty="0"/>
          </a:p>
          <a:p>
            <a:pPr marL="742950" lvl="1" indent="-285750">
              <a:buFont typeface="Courier New" panose="02070309020205020404" pitchFamily="49" charset="0"/>
              <a:buChar char="o"/>
            </a:pPr>
            <a:endParaRPr lang="en-US" dirty="0"/>
          </a:p>
          <a:p>
            <a:pPr marL="742950" lvl="1" indent="-285750">
              <a:buFont typeface="Arial" panose="020B0604020202020204" pitchFamily="34" charset="0"/>
              <a:buChar char="•"/>
            </a:pPr>
            <a:endParaRPr lang="en-US" dirty="0"/>
          </a:p>
          <a:p>
            <a:pPr lvl="1"/>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4242364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E93D43DA111334FB6B4D50B5EF78B3D" ma:contentTypeVersion="17" ma:contentTypeDescription="Create a new document." ma:contentTypeScope="" ma:versionID="14530d8a04bf6994171b56efba943366">
  <xsd:schema xmlns:xsd="http://www.w3.org/2001/XMLSchema" xmlns:xs="http://www.w3.org/2001/XMLSchema" xmlns:p="http://schemas.microsoft.com/office/2006/metadata/properties" xmlns:ns3="49f31503-dcd6-4970-bafd-c811d6eea3b7" xmlns:ns4="2a7a3894-ebc1-4607-9590-98f1174d0751" targetNamespace="http://schemas.microsoft.com/office/2006/metadata/properties" ma:root="true" ma:fieldsID="83553c9c4bf86b37b465ca920172b006" ns3:_="" ns4:_="">
    <xsd:import namespace="49f31503-dcd6-4970-bafd-c811d6eea3b7"/>
    <xsd:import namespace="2a7a3894-ebc1-4607-9590-98f1174d075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_activity"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4:SharedWithUsers" minOccurs="0"/>
                <xsd:element ref="ns4:SharedWithDetails" minOccurs="0"/>
                <xsd:element ref="ns4:SharingHintHash" minOccurs="0"/>
                <xsd:element ref="ns3:MediaServiceObjectDetectorVersions" minOccurs="0"/>
                <xsd:element ref="ns3:MediaServiceLocation"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f31503-dcd6-4970-bafd-c811d6eea3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a7a3894-ebc1-4607-9590-98f1174d075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9f31503-dcd6-4970-bafd-c811d6eea3b7" xsi:nil="true"/>
  </documentManagement>
</p:properties>
</file>

<file path=customXml/itemProps1.xml><?xml version="1.0" encoding="utf-8"?>
<ds:datastoreItem xmlns:ds="http://schemas.openxmlformats.org/officeDocument/2006/customXml" ds:itemID="{7C509494-0B17-4FF2-9DEE-221D5E28F8F8}">
  <ds:schemaRefs>
    <ds:schemaRef ds:uri="http://schemas.microsoft.com/sharepoint/v3/contenttype/forms"/>
  </ds:schemaRefs>
</ds:datastoreItem>
</file>

<file path=customXml/itemProps2.xml><?xml version="1.0" encoding="utf-8"?>
<ds:datastoreItem xmlns:ds="http://schemas.openxmlformats.org/officeDocument/2006/customXml" ds:itemID="{7BEEAD7C-7045-4327-9F83-B853FA8CE3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f31503-dcd6-4970-bafd-c811d6eea3b7"/>
    <ds:schemaRef ds:uri="2a7a3894-ebc1-4607-9590-98f1174d07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D97036C-57F7-47AA-BC38-A6535509CA7E}">
  <ds:schemaRefs>
    <ds:schemaRef ds:uri="http://www.w3.org/XML/1998/namespace"/>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2a7a3894-ebc1-4607-9590-98f1174d0751"/>
    <ds:schemaRef ds:uri="http://purl.org/dc/terms/"/>
    <ds:schemaRef ds:uri="http://schemas.microsoft.com/office/infopath/2007/PartnerControls"/>
    <ds:schemaRef ds:uri="49f31503-dcd6-4970-bafd-c811d6eea3b7"/>
  </ds:schemaRefs>
</ds:datastoreItem>
</file>

<file path=docProps/app.xml><?xml version="1.0" encoding="utf-8"?>
<Properties xmlns="http://schemas.openxmlformats.org/officeDocument/2006/extended-properties" xmlns:vt="http://schemas.openxmlformats.org/officeDocument/2006/docPropsVTypes">
  <TotalTime>1043</TotalTime>
  <Words>1495</Words>
  <Application>Microsoft Office PowerPoint</Application>
  <PresentationFormat>Widescreen</PresentationFormat>
  <Paragraphs>227</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Cambria</vt:lpstr>
      <vt:lpstr>Cambria Math</vt:lpstr>
      <vt:lpstr>Courier New</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Partially excavated sub-floor pits under Structures 3 and 4</vt:lpstr>
      <vt:lpstr>PowerPoint Presentation</vt:lpstr>
      <vt:lpstr>PowerPoint Presentation</vt:lpstr>
      <vt:lpstr>PowerPoint Presentation</vt:lpstr>
      <vt:lpstr>PowerPoint Presentation</vt:lpstr>
      <vt:lpstr>PowerPoint Presentation</vt:lpstr>
    </vt:vector>
  </TitlesOfParts>
  <Company>Thomas Jefferson Foundation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Fraser Neiman</dc:creator>
  <cp:lastModifiedBy>Fraser D. Neiman</cp:lastModifiedBy>
  <cp:revision>57</cp:revision>
  <dcterms:created xsi:type="dcterms:W3CDTF">2009-06-29T11:59:00Z</dcterms:created>
  <dcterms:modified xsi:type="dcterms:W3CDTF">2026-06-24T11:13:24Z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0x0101001E93D43DA111334FB6B4D50B5EF78B3D</vt:lpwstr>
  </property>
</Properties>
</file>